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 pig = 豬 🐷; sad = 傷心 😢; hot = 熱 🥵; give = 給 🎁; wait = 等 ⏳. Drag a 中文 tile (and its picture) into the dotted box next to its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 cold = 凍 🥶; share = 分享 🍪🤝; friend = 朋友 👫; ice cream = 雪糕 🍦; elephant = 大象 🐘. Drag a 中文 tile (and its picture) into the dotted box next to its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p · i · g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s · a · d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h · o · t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g · i · ve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w · ai · t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· o · l · d</a:t>
            </a:r>
          </a:p>
          <a:p>
            <a:r>
              <a:t>o says its own name (/oh/) in cold — the same in old, hold and gold.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sh · are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f · r · ie · n · d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i · ce  /  c · r · ea · m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e · l  /  e  /  ph · a · n · t</a:t>
            </a:r>
          </a:p>
          <a:p>
            <a:r>
              <a:t>Three syllables, seven sounds: el | e | phant.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p · i · g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s · a · d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h · o · t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g · i · ve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w · ai · t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· o · l · d</a:t>
            </a:r>
          </a:p>
          <a:p>
            <a:r>
              <a:t>o says its own name (/oh/) in cold — the same in old, hold and gold.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sh · are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f · r · ie · n · d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i · ce  /  c · r · ea · m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e · l  /  e  /  ph · a · n · t</a:t>
            </a:r>
          </a:p>
          <a:p>
            <a:r>
              <a:t>Three syllables, seven sounds: el | e | phant.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Rhymes with pig: big 大, dig 挖, wig 假髮, fig 無花果, jig 輕快的舞</a:t>
            </a:r>
          </a:p>
          <a:p>
            <a:r>
              <a:t>Some tiles make words that are not in the list; ask whether it is a real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Rhymes with hot: pot 鍋, dot 點, cot 嬰兒床, got 得到, lot 很多, not 不, rot 腐爛</a:t>
            </a:r>
          </a:p>
          <a:p>
            <a:r>
              <a:t>Some tiles make words that are not in the list; ask whether it is a real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Rhymes with sad: mad 生氣, dad 爸爸, bad 壞, had 有, pad 墊子, glad 高興</a:t>
            </a:r>
          </a:p>
          <a:p>
            <a:r>
              <a:t>Some tiles make words that are not in the list; ask whether it is a real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Rhymes with cold: old 舊, hold 拿著, gold 金, bold 勇敢, told 告訴了, sold 賣了, fold 摺</a:t>
            </a:r>
          </a:p>
          <a:p>
            <a:r>
              <a:t>Some tiles make words that are not in the list; ask whether it is a real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ord pig"/>
          <p:cNvSpPr/>
          <p:nvPr/>
        </p:nvSpPr>
        <p:spPr>
          <a:xfrm>
            <a:off x="548640" y="457200"/>
            <a:ext cx="3108960" cy="960120"/>
          </a:xfrm>
          <a:prstGeom prst="roundRect">
            <a:avLst/>
          </a:prstGeom>
          <a:solidFill>
            <a:srgbClr val="E9EFDC"/>
          </a:solidFill>
          <a:ln w="254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600" b="1">
                <a:solidFill>
                  <a:srgbClr val="111111"/>
                </a:solidFill>
                <a:latin typeface="Arial"/>
                <a:ea typeface="Microsoft JhengHei"/>
              </a:rPr>
              <a:t>pig</a:t>
            </a:r>
          </a:p>
        </p:txBody>
      </p:sp>
      <p:sp>
        <p:nvSpPr>
          <p:cNvPr id="3" name="place 1"/>
          <p:cNvSpPr/>
          <p:nvPr/>
        </p:nvSpPr>
        <p:spPr>
          <a:xfrm>
            <a:off x="4023360" y="457200"/>
            <a:ext cx="3108960" cy="96012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ord sad"/>
          <p:cNvSpPr/>
          <p:nvPr/>
        </p:nvSpPr>
        <p:spPr>
          <a:xfrm>
            <a:off x="548640" y="1645920"/>
            <a:ext cx="3108960" cy="960120"/>
          </a:xfrm>
          <a:prstGeom prst="roundRect">
            <a:avLst/>
          </a:prstGeom>
          <a:solidFill>
            <a:srgbClr val="E9EFDC"/>
          </a:solidFill>
          <a:ln w="254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600" b="1">
                <a:solidFill>
                  <a:srgbClr val="111111"/>
                </a:solidFill>
                <a:latin typeface="Arial"/>
                <a:ea typeface="Microsoft JhengHei"/>
              </a:rPr>
              <a:t>sad</a:t>
            </a:r>
          </a:p>
        </p:txBody>
      </p:sp>
      <p:sp>
        <p:nvSpPr>
          <p:cNvPr id="5" name="place 2"/>
          <p:cNvSpPr/>
          <p:nvPr/>
        </p:nvSpPr>
        <p:spPr>
          <a:xfrm>
            <a:off x="4023360" y="1645920"/>
            <a:ext cx="3108960" cy="96012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ord hot"/>
          <p:cNvSpPr/>
          <p:nvPr/>
        </p:nvSpPr>
        <p:spPr>
          <a:xfrm>
            <a:off x="548640" y="2834640"/>
            <a:ext cx="3108960" cy="960120"/>
          </a:xfrm>
          <a:prstGeom prst="roundRect">
            <a:avLst/>
          </a:prstGeom>
          <a:solidFill>
            <a:srgbClr val="E9EFDC"/>
          </a:solidFill>
          <a:ln w="254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600" b="1">
                <a:solidFill>
                  <a:srgbClr val="111111"/>
                </a:solidFill>
                <a:latin typeface="Arial"/>
                <a:ea typeface="Microsoft JhengHei"/>
              </a:rPr>
              <a:t>hot</a:t>
            </a:r>
          </a:p>
        </p:txBody>
      </p:sp>
      <p:sp>
        <p:nvSpPr>
          <p:cNvPr id="7" name="place 3"/>
          <p:cNvSpPr/>
          <p:nvPr/>
        </p:nvSpPr>
        <p:spPr>
          <a:xfrm>
            <a:off x="4023360" y="2834640"/>
            <a:ext cx="3108960" cy="96012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ord give"/>
          <p:cNvSpPr/>
          <p:nvPr/>
        </p:nvSpPr>
        <p:spPr>
          <a:xfrm>
            <a:off x="548640" y="4023360"/>
            <a:ext cx="3108960" cy="960120"/>
          </a:xfrm>
          <a:prstGeom prst="roundRect">
            <a:avLst/>
          </a:prstGeom>
          <a:solidFill>
            <a:srgbClr val="E9EFDC"/>
          </a:solidFill>
          <a:ln w="254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600" b="1">
                <a:solidFill>
                  <a:srgbClr val="111111"/>
                </a:solidFill>
                <a:latin typeface="Arial"/>
                <a:ea typeface="Microsoft JhengHei"/>
              </a:rPr>
              <a:t>give</a:t>
            </a:r>
          </a:p>
        </p:txBody>
      </p:sp>
      <p:sp>
        <p:nvSpPr>
          <p:cNvPr id="9" name="place 4"/>
          <p:cNvSpPr/>
          <p:nvPr/>
        </p:nvSpPr>
        <p:spPr>
          <a:xfrm>
            <a:off x="4023360" y="4023360"/>
            <a:ext cx="3108960" cy="96012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word wait"/>
          <p:cNvSpPr/>
          <p:nvPr/>
        </p:nvSpPr>
        <p:spPr>
          <a:xfrm>
            <a:off x="548640" y="5212080"/>
            <a:ext cx="3108960" cy="960120"/>
          </a:xfrm>
          <a:prstGeom prst="roundRect">
            <a:avLst/>
          </a:prstGeom>
          <a:solidFill>
            <a:srgbClr val="E9EFDC"/>
          </a:solidFill>
          <a:ln w="254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600" b="1">
                <a:solidFill>
                  <a:srgbClr val="111111"/>
                </a:solidFill>
                <a:latin typeface="Arial"/>
                <a:ea typeface="Microsoft JhengHei"/>
              </a:rPr>
              <a:t>wait</a:t>
            </a:r>
          </a:p>
        </p:txBody>
      </p:sp>
      <p:sp>
        <p:nvSpPr>
          <p:cNvPr id="11" name="place 5"/>
          <p:cNvSpPr/>
          <p:nvPr/>
        </p:nvSpPr>
        <p:spPr>
          <a:xfrm>
            <a:off x="4023360" y="5212080"/>
            <a:ext cx="3108960" cy="96012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中文 sad"/>
          <p:cNvSpPr/>
          <p:nvPr/>
        </p:nvSpPr>
        <p:spPr>
          <a:xfrm>
            <a:off x="7863840" y="457200"/>
            <a:ext cx="2103120" cy="960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400" b="0">
                <a:solidFill>
                  <a:srgbClr val="111111"/>
                </a:solidFill>
                <a:latin typeface="Arial"/>
                <a:ea typeface="Microsoft JhengHei"/>
              </a:rPr>
              <a:t>傷心</a:t>
            </a:r>
          </a:p>
        </p:txBody>
      </p:sp>
      <p:pic>
        <p:nvPicPr>
          <p:cNvPr id="13" name="picture sad" descr="1f622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48640"/>
            <a:ext cx="811938" cy="777240"/>
          </a:xfrm>
          <a:prstGeom prst="rect">
            <a:avLst/>
          </a:prstGeom>
        </p:spPr>
      </p:pic>
      <p:sp>
        <p:nvSpPr>
          <p:cNvPr id="14" name="中文 give"/>
          <p:cNvSpPr/>
          <p:nvPr/>
        </p:nvSpPr>
        <p:spPr>
          <a:xfrm>
            <a:off x="7863840" y="1645920"/>
            <a:ext cx="2103120" cy="960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400" b="0">
                <a:solidFill>
                  <a:srgbClr val="111111"/>
                </a:solidFill>
                <a:latin typeface="Arial"/>
                <a:ea typeface="Microsoft JhengHei"/>
              </a:rPr>
              <a:t>給</a:t>
            </a:r>
          </a:p>
        </p:txBody>
      </p:sp>
      <p:pic>
        <p:nvPicPr>
          <p:cNvPr id="15" name="picture give" descr="1f381-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1737360"/>
            <a:ext cx="719903" cy="777240"/>
          </a:xfrm>
          <a:prstGeom prst="rect">
            <a:avLst/>
          </a:prstGeom>
        </p:spPr>
      </p:pic>
      <p:sp>
        <p:nvSpPr>
          <p:cNvPr id="16" name="中文 hot"/>
          <p:cNvSpPr/>
          <p:nvPr/>
        </p:nvSpPr>
        <p:spPr>
          <a:xfrm>
            <a:off x="7863840" y="2834640"/>
            <a:ext cx="2103120" cy="960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400" b="0">
                <a:solidFill>
                  <a:srgbClr val="111111"/>
                </a:solidFill>
                <a:latin typeface="Arial"/>
                <a:ea typeface="Microsoft JhengHei"/>
              </a:rPr>
              <a:t>熱</a:t>
            </a:r>
          </a:p>
        </p:txBody>
      </p:sp>
      <p:pic>
        <p:nvPicPr>
          <p:cNvPr id="17" name="picture hot" descr="1f975-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2926080"/>
            <a:ext cx="846636" cy="777240"/>
          </a:xfrm>
          <a:prstGeom prst="rect">
            <a:avLst/>
          </a:prstGeom>
        </p:spPr>
      </p:pic>
      <p:sp>
        <p:nvSpPr>
          <p:cNvPr id="18" name="中文 pig"/>
          <p:cNvSpPr/>
          <p:nvPr/>
        </p:nvSpPr>
        <p:spPr>
          <a:xfrm>
            <a:off x="7863840" y="4023360"/>
            <a:ext cx="2103120" cy="960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400" b="0">
                <a:solidFill>
                  <a:srgbClr val="111111"/>
                </a:solidFill>
                <a:latin typeface="Arial"/>
                <a:ea typeface="Microsoft JhengHei"/>
              </a:rPr>
              <a:t>豬</a:t>
            </a:r>
          </a:p>
        </p:txBody>
      </p:sp>
      <p:pic>
        <p:nvPicPr>
          <p:cNvPr id="19" name="picture pig" descr="1f437-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114800"/>
            <a:ext cx="886199" cy="777240"/>
          </a:xfrm>
          <a:prstGeom prst="rect">
            <a:avLst/>
          </a:prstGeom>
        </p:spPr>
      </p:pic>
      <p:sp>
        <p:nvSpPr>
          <p:cNvPr id="20" name="中文 wait"/>
          <p:cNvSpPr/>
          <p:nvPr/>
        </p:nvSpPr>
        <p:spPr>
          <a:xfrm>
            <a:off x="7863840" y="5212080"/>
            <a:ext cx="2103120" cy="960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400" b="0">
                <a:solidFill>
                  <a:srgbClr val="111111"/>
                </a:solidFill>
                <a:latin typeface="Arial"/>
                <a:ea typeface="Microsoft JhengHei"/>
              </a:rPr>
              <a:t>等</a:t>
            </a:r>
          </a:p>
        </p:txBody>
      </p:sp>
      <p:pic>
        <p:nvPicPr>
          <p:cNvPr id="21" name="picture wait" descr="23f3-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5303520"/>
            <a:ext cx="526725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ord cold"/>
          <p:cNvSpPr/>
          <p:nvPr/>
        </p:nvSpPr>
        <p:spPr>
          <a:xfrm>
            <a:off x="548640" y="457200"/>
            <a:ext cx="3108960" cy="960120"/>
          </a:xfrm>
          <a:prstGeom prst="roundRect">
            <a:avLst/>
          </a:prstGeom>
          <a:solidFill>
            <a:srgbClr val="E9EFDC"/>
          </a:solidFill>
          <a:ln w="254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600" b="1">
                <a:solidFill>
                  <a:srgbClr val="111111"/>
                </a:solidFill>
                <a:latin typeface="Arial"/>
                <a:ea typeface="Microsoft JhengHei"/>
              </a:rPr>
              <a:t>cold</a:t>
            </a:r>
          </a:p>
        </p:txBody>
      </p:sp>
      <p:sp>
        <p:nvSpPr>
          <p:cNvPr id="3" name="place 1"/>
          <p:cNvSpPr/>
          <p:nvPr/>
        </p:nvSpPr>
        <p:spPr>
          <a:xfrm>
            <a:off x="4023360" y="457200"/>
            <a:ext cx="3108960" cy="96012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ord share"/>
          <p:cNvSpPr/>
          <p:nvPr/>
        </p:nvSpPr>
        <p:spPr>
          <a:xfrm>
            <a:off x="548640" y="1645920"/>
            <a:ext cx="3108960" cy="960120"/>
          </a:xfrm>
          <a:prstGeom prst="roundRect">
            <a:avLst/>
          </a:prstGeom>
          <a:solidFill>
            <a:srgbClr val="E9EFDC"/>
          </a:solidFill>
          <a:ln w="254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600" b="1">
                <a:solidFill>
                  <a:srgbClr val="111111"/>
                </a:solidFill>
                <a:latin typeface="Arial"/>
                <a:ea typeface="Microsoft JhengHei"/>
              </a:rPr>
              <a:t>share</a:t>
            </a:r>
          </a:p>
        </p:txBody>
      </p:sp>
      <p:sp>
        <p:nvSpPr>
          <p:cNvPr id="5" name="place 2"/>
          <p:cNvSpPr/>
          <p:nvPr/>
        </p:nvSpPr>
        <p:spPr>
          <a:xfrm>
            <a:off x="4023360" y="1645920"/>
            <a:ext cx="3108960" cy="96012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ord friend"/>
          <p:cNvSpPr/>
          <p:nvPr/>
        </p:nvSpPr>
        <p:spPr>
          <a:xfrm>
            <a:off x="548640" y="2834640"/>
            <a:ext cx="3108960" cy="960120"/>
          </a:xfrm>
          <a:prstGeom prst="roundRect">
            <a:avLst/>
          </a:prstGeom>
          <a:solidFill>
            <a:srgbClr val="E9EFDC"/>
          </a:solidFill>
          <a:ln w="254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600" b="1">
                <a:solidFill>
                  <a:srgbClr val="111111"/>
                </a:solidFill>
                <a:latin typeface="Arial"/>
                <a:ea typeface="Microsoft JhengHei"/>
              </a:rPr>
              <a:t>friend</a:t>
            </a:r>
          </a:p>
        </p:txBody>
      </p:sp>
      <p:sp>
        <p:nvSpPr>
          <p:cNvPr id="7" name="place 3"/>
          <p:cNvSpPr/>
          <p:nvPr/>
        </p:nvSpPr>
        <p:spPr>
          <a:xfrm>
            <a:off x="4023360" y="2834640"/>
            <a:ext cx="3108960" cy="96012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ord ice cream"/>
          <p:cNvSpPr/>
          <p:nvPr/>
        </p:nvSpPr>
        <p:spPr>
          <a:xfrm>
            <a:off x="548640" y="4023360"/>
            <a:ext cx="3108960" cy="960120"/>
          </a:xfrm>
          <a:prstGeom prst="roundRect">
            <a:avLst/>
          </a:prstGeom>
          <a:solidFill>
            <a:srgbClr val="E9EFDC"/>
          </a:solidFill>
          <a:ln w="254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600" b="1">
                <a:solidFill>
                  <a:srgbClr val="111111"/>
                </a:solidFill>
                <a:latin typeface="Arial"/>
                <a:ea typeface="Microsoft JhengHei"/>
              </a:rPr>
              <a:t>ice cream</a:t>
            </a:r>
          </a:p>
        </p:txBody>
      </p:sp>
      <p:sp>
        <p:nvSpPr>
          <p:cNvPr id="9" name="place 4"/>
          <p:cNvSpPr/>
          <p:nvPr/>
        </p:nvSpPr>
        <p:spPr>
          <a:xfrm>
            <a:off x="4023360" y="4023360"/>
            <a:ext cx="3108960" cy="96012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word elephant"/>
          <p:cNvSpPr/>
          <p:nvPr/>
        </p:nvSpPr>
        <p:spPr>
          <a:xfrm>
            <a:off x="548640" y="5212080"/>
            <a:ext cx="3108960" cy="960120"/>
          </a:xfrm>
          <a:prstGeom prst="roundRect">
            <a:avLst/>
          </a:prstGeom>
          <a:solidFill>
            <a:srgbClr val="E9EFDC"/>
          </a:solidFill>
          <a:ln w="254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600" b="1">
                <a:solidFill>
                  <a:srgbClr val="111111"/>
                </a:solidFill>
                <a:latin typeface="Arial"/>
                <a:ea typeface="Microsoft JhengHei"/>
              </a:rPr>
              <a:t>elephant</a:t>
            </a:r>
          </a:p>
        </p:txBody>
      </p:sp>
      <p:sp>
        <p:nvSpPr>
          <p:cNvPr id="11" name="place 5"/>
          <p:cNvSpPr/>
          <p:nvPr/>
        </p:nvSpPr>
        <p:spPr>
          <a:xfrm>
            <a:off x="4023360" y="5212080"/>
            <a:ext cx="3108960" cy="96012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中文 ice cream"/>
          <p:cNvSpPr/>
          <p:nvPr/>
        </p:nvSpPr>
        <p:spPr>
          <a:xfrm>
            <a:off x="7863840" y="457200"/>
            <a:ext cx="2103120" cy="960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400" b="0">
                <a:solidFill>
                  <a:srgbClr val="111111"/>
                </a:solidFill>
                <a:latin typeface="Arial"/>
                <a:ea typeface="Microsoft JhengHei"/>
              </a:rPr>
              <a:t>雪糕</a:t>
            </a:r>
          </a:p>
        </p:txBody>
      </p:sp>
      <p:pic>
        <p:nvPicPr>
          <p:cNvPr id="13" name="picture ice cream" descr="1f366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48640"/>
            <a:ext cx="426845" cy="777240"/>
          </a:xfrm>
          <a:prstGeom prst="rect">
            <a:avLst/>
          </a:prstGeom>
        </p:spPr>
      </p:pic>
      <p:sp>
        <p:nvSpPr>
          <p:cNvPr id="14" name="中文 elephant"/>
          <p:cNvSpPr/>
          <p:nvPr/>
        </p:nvSpPr>
        <p:spPr>
          <a:xfrm>
            <a:off x="7863840" y="1645920"/>
            <a:ext cx="2103120" cy="960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400" b="0">
                <a:solidFill>
                  <a:srgbClr val="111111"/>
                </a:solidFill>
                <a:latin typeface="Arial"/>
                <a:ea typeface="Microsoft JhengHei"/>
              </a:rPr>
              <a:t>大象</a:t>
            </a:r>
          </a:p>
        </p:txBody>
      </p:sp>
      <p:pic>
        <p:nvPicPr>
          <p:cNvPr id="15" name="picture elephant" descr="1f418-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1737360"/>
            <a:ext cx="854264" cy="777240"/>
          </a:xfrm>
          <a:prstGeom prst="rect">
            <a:avLst/>
          </a:prstGeom>
        </p:spPr>
      </p:pic>
      <p:sp>
        <p:nvSpPr>
          <p:cNvPr id="16" name="中文 cold"/>
          <p:cNvSpPr/>
          <p:nvPr/>
        </p:nvSpPr>
        <p:spPr>
          <a:xfrm>
            <a:off x="7863840" y="2834640"/>
            <a:ext cx="2103120" cy="960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400" b="0">
                <a:solidFill>
                  <a:srgbClr val="111111"/>
                </a:solidFill>
                <a:latin typeface="Arial"/>
                <a:ea typeface="Microsoft JhengHei"/>
              </a:rPr>
              <a:t>凍</a:t>
            </a:r>
          </a:p>
        </p:txBody>
      </p:sp>
      <p:pic>
        <p:nvPicPr>
          <p:cNvPr id="17" name="picture cold" descr="1f976-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2926080"/>
            <a:ext cx="764704" cy="777240"/>
          </a:xfrm>
          <a:prstGeom prst="rect">
            <a:avLst/>
          </a:prstGeom>
        </p:spPr>
      </p:pic>
      <p:sp>
        <p:nvSpPr>
          <p:cNvPr id="18" name="中文 friend"/>
          <p:cNvSpPr/>
          <p:nvPr/>
        </p:nvSpPr>
        <p:spPr>
          <a:xfrm>
            <a:off x="7863840" y="4023360"/>
            <a:ext cx="2103120" cy="960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400" b="0">
                <a:solidFill>
                  <a:srgbClr val="111111"/>
                </a:solidFill>
                <a:latin typeface="Arial"/>
                <a:ea typeface="Microsoft JhengHei"/>
              </a:rPr>
              <a:t>朋友</a:t>
            </a:r>
          </a:p>
        </p:txBody>
      </p:sp>
      <p:pic>
        <p:nvPicPr>
          <p:cNvPr id="19" name="picture friend" descr="1f46b-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114800"/>
            <a:ext cx="803148" cy="777240"/>
          </a:xfrm>
          <a:prstGeom prst="rect">
            <a:avLst/>
          </a:prstGeom>
        </p:spPr>
      </p:pic>
      <p:sp>
        <p:nvSpPr>
          <p:cNvPr id="20" name="中文 share"/>
          <p:cNvSpPr/>
          <p:nvPr/>
        </p:nvSpPr>
        <p:spPr>
          <a:xfrm>
            <a:off x="7863840" y="5212080"/>
            <a:ext cx="2103120" cy="960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400" b="0">
                <a:solidFill>
                  <a:srgbClr val="111111"/>
                </a:solidFill>
                <a:latin typeface="Arial"/>
                <a:ea typeface="Microsoft JhengHei"/>
              </a:rPr>
              <a:t>分享</a:t>
            </a:r>
          </a:p>
        </p:txBody>
      </p:sp>
      <p:pic>
        <p:nvPicPr>
          <p:cNvPr id="21" name="picture share" descr="1f36a-1f91d-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5303520"/>
            <a:ext cx="1712563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437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1042587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pig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豬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i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i</a:t>
            </a:r>
          </a:p>
        </p:txBody>
      </p:sp>
      <p:sp>
        <p:nvSpPr>
          <p:cNvPr id="13" name="tile are"/>
          <p:cNvSpPr/>
          <p:nvPr/>
        </p:nvSpPr>
        <p:spPr>
          <a:xfrm>
            <a:off x="1490472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4" name="tile p"/>
          <p:cNvSpPr/>
          <p:nvPr/>
        </p:nvSpPr>
        <p:spPr>
          <a:xfrm>
            <a:off x="278434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p</a:t>
            </a:r>
          </a:p>
        </p:txBody>
      </p:sp>
      <p:sp>
        <p:nvSpPr>
          <p:cNvPr id="15" name="tile a"/>
          <p:cNvSpPr/>
          <p:nvPr/>
        </p:nvSpPr>
        <p:spPr>
          <a:xfrm>
            <a:off x="381762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6" name="tile c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17" name="tile g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g</a:t>
            </a:r>
          </a:p>
        </p:txBody>
      </p:sp>
      <p:sp>
        <p:nvSpPr>
          <p:cNvPr id="18" name="tile ai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622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955221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sad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傷心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are"/>
          <p:cNvSpPr/>
          <p:nvPr/>
        </p:nvSpPr>
        <p:spPr>
          <a:xfrm>
            <a:off x="457200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3" name="tile ai"/>
          <p:cNvSpPr/>
          <p:nvPr/>
        </p:nvSpPr>
        <p:spPr>
          <a:xfrm>
            <a:off x="175107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ai</a:t>
            </a:r>
          </a:p>
        </p:txBody>
      </p:sp>
      <p:sp>
        <p:nvSpPr>
          <p:cNvPr id="14" name="tile a"/>
          <p:cNvSpPr/>
          <p:nvPr/>
        </p:nvSpPr>
        <p:spPr>
          <a:xfrm>
            <a:off x="278434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5" name="tile d"/>
          <p:cNvSpPr/>
          <p:nvPr/>
        </p:nvSpPr>
        <p:spPr>
          <a:xfrm>
            <a:off x="381762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16" name="tile ce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ce</a:t>
            </a:r>
          </a:p>
        </p:txBody>
      </p:sp>
      <p:sp>
        <p:nvSpPr>
          <p:cNvPr id="17" name="tile s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</a:t>
            </a:r>
          </a:p>
        </p:txBody>
      </p:sp>
      <p:sp>
        <p:nvSpPr>
          <p:cNvPr id="18" name="tile c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975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996043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hot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熱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c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13" name="tile h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h</a:t>
            </a:r>
          </a:p>
        </p:txBody>
      </p:sp>
      <p:sp>
        <p:nvSpPr>
          <p:cNvPr id="14" name="tile o"/>
          <p:cNvSpPr/>
          <p:nvPr/>
        </p:nvSpPr>
        <p:spPr>
          <a:xfrm>
            <a:off x="252374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o</a:t>
            </a:r>
          </a:p>
        </p:txBody>
      </p:sp>
      <p:sp>
        <p:nvSpPr>
          <p:cNvPr id="15" name="tile are"/>
          <p:cNvSpPr/>
          <p:nvPr/>
        </p:nvSpPr>
        <p:spPr>
          <a:xfrm>
            <a:off x="3557015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6" name="tile t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t</a:t>
            </a:r>
          </a:p>
        </p:txBody>
      </p:sp>
      <p:sp>
        <p:nvSpPr>
          <p:cNvPr id="17" name="tile a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8" name="tile ai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381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846944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give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給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a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3" name="tile c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14" name="tile g"/>
          <p:cNvSpPr/>
          <p:nvPr/>
        </p:nvSpPr>
        <p:spPr>
          <a:xfrm>
            <a:off x="252374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g</a:t>
            </a:r>
          </a:p>
        </p:txBody>
      </p:sp>
      <p:sp>
        <p:nvSpPr>
          <p:cNvPr id="15" name="tile ai"/>
          <p:cNvSpPr/>
          <p:nvPr/>
        </p:nvSpPr>
        <p:spPr>
          <a:xfrm>
            <a:off x="355701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ai</a:t>
            </a:r>
          </a:p>
        </p:txBody>
      </p:sp>
      <p:sp>
        <p:nvSpPr>
          <p:cNvPr id="16" name="tile are"/>
          <p:cNvSpPr/>
          <p:nvPr/>
        </p:nvSpPr>
        <p:spPr>
          <a:xfrm>
            <a:off x="4590288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7" name="tile i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i</a:t>
            </a:r>
          </a:p>
        </p:txBody>
      </p:sp>
      <p:sp>
        <p:nvSpPr>
          <p:cNvPr id="18" name="tile ve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23f3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619676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wait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等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are"/>
          <p:cNvSpPr/>
          <p:nvPr/>
        </p:nvSpPr>
        <p:spPr>
          <a:xfrm>
            <a:off x="457200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3" name="tile ai"/>
          <p:cNvSpPr/>
          <p:nvPr/>
        </p:nvSpPr>
        <p:spPr>
          <a:xfrm>
            <a:off x="175107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ai</a:t>
            </a:r>
          </a:p>
        </p:txBody>
      </p:sp>
      <p:sp>
        <p:nvSpPr>
          <p:cNvPr id="14" name="tile a"/>
          <p:cNvSpPr/>
          <p:nvPr/>
        </p:nvSpPr>
        <p:spPr>
          <a:xfrm>
            <a:off x="278434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5" name="tile c"/>
          <p:cNvSpPr/>
          <p:nvPr/>
        </p:nvSpPr>
        <p:spPr>
          <a:xfrm>
            <a:off x="381762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16" name="tile ce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ce</a:t>
            </a:r>
          </a:p>
        </p:txBody>
      </p:sp>
      <p:sp>
        <p:nvSpPr>
          <p:cNvPr id="17" name="tile t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t</a:t>
            </a:r>
          </a:p>
        </p:txBody>
      </p:sp>
      <p:sp>
        <p:nvSpPr>
          <p:cNvPr id="18" name="tile w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976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899652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cold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凍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ox 4"/>
          <p:cNvSpPr/>
          <p:nvPr/>
        </p:nvSpPr>
        <p:spPr>
          <a:xfrm>
            <a:off x="402336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ounter 4"/>
          <p:cNvSpPr/>
          <p:nvPr/>
        </p:nvSpPr>
        <p:spPr>
          <a:xfrm>
            <a:off x="25146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ce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ce</a:t>
            </a:r>
          </a:p>
        </p:txBody>
      </p:sp>
      <p:sp>
        <p:nvSpPr>
          <p:cNvPr id="15" name="tile ai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ai</a:t>
            </a:r>
          </a:p>
        </p:txBody>
      </p:sp>
      <p:sp>
        <p:nvSpPr>
          <p:cNvPr id="16" name="tile are"/>
          <p:cNvSpPr/>
          <p:nvPr/>
        </p:nvSpPr>
        <p:spPr>
          <a:xfrm>
            <a:off x="2523744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7" name="tile c"/>
          <p:cNvSpPr/>
          <p:nvPr/>
        </p:nvSpPr>
        <p:spPr>
          <a:xfrm>
            <a:off x="381762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18" name="tile o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o</a:t>
            </a:r>
          </a:p>
        </p:txBody>
      </p:sp>
      <p:sp>
        <p:nvSpPr>
          <p:cNvPr id="19" name="tile l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l</a:t>
            </a:r>
          </a:p>
        </p:txBody>
      </p:sp>
      <p:sp>
        <p:nvSpPr>
          <p:cNvPr id="20" name="tile d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21" name="tile a"/>
          <p:cNvSpPr/>
          <p:nvPr/>
        </p:nvSpPr>
        <p:spPr>
          <a:xfrm>
            <a:off x="795070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36a-1f91d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2014780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share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分享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a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1" name="tile ce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ce</a:t>
            </a:r>
          </a:p>
        </p:txBody>
      </p:sp>
      <p:sp>
        <p:nvSpPr>
          <p:cNvPr id="12" name="tile sh"/>
          <p:cNvSpPr/>
          <p:nvPr/>
        </p:nvSpPr>
        <p:spPr>
          <a:xfrm>
            <a:off x="252374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sh</a:t>
            </a:r>
          </a:p>
        </p:txBody>
      </p:sp>
      <p:sp>
        <p:nvSpPr>
          <p:cNvPr id="13" name="tile are"/>
          <p:cNvSpPr/>
          <p:nvPr/>
        </p:nvSpPr>
        <p:spPr>
          <a:xfrm>
            <a:off x="3557015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4" name="tile c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15" name="tile ai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46b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944880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friend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朋友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ox 4"/>
          <p:cNvSpPr/>
          <p:nvPr/>
        </p:nvSpPr>
        <p:spPr>
          <a:xfrm>
            <a:off x="402336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box 5"/>
          <p:cNvSpPr/>
          <p:nvPr/>
        </p:nvSpPr>
        <p:spPr>
          <a:xfrm>
            <a:off x="521208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ounter 4"/>
          <p:cNvSpPr/>
          <p:nvPr/>
        </p:nvSpPr>
        <p:spPr>
          <a:xfrm>
            <a:off x="25146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counter 5"/>
          <p:cNvSpPr/>
          <p:nvPr/>
        </p:nvSpPr>
        <p:spPr>
          <a:xfrm>
            <a:off x="32004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are"/>
          <p:cNvSpPr/>
          <p:nvPr/>
        </p:nvSpPr>
        <p:spPr>
          <a:xfrm>
            <a:off x="457200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7" name="tile a"/>
          <p:cNvSpPr/>
          <p:nvPr/>
        </p:nvSpPr>
        <p:spPr>
          <a:xfrm>
            <a:off x="175107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8" name="tile ie"/>
          <p:cNvSpPr/>
          <p:nvPr/>
        </p:nvSpPr>
        <p:spPr>
          <a:xfrm>
            <a:off x="278434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ie</a:t>
            </a:r>
          </a:p>
        </p:txBody>
      </p:sp>
      <p:sp>
        <p:nvSpPr>
          <p:cNvPr id="19" name="tile r"/>
          <p:cNvSpPr/>
          <p:nvPr/>
        </p:nvSpPr>
        <p:spPr>
          <a:xfrm>
            <a:off x="381762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r</a:t>
            </a:r>
          </a:p>
        </p:txBody>
      </p:sp>
      <p:sp>
        <p:nvSpPr>
          <p:cNvPr id="20" name="tile ai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ai</a:t>
            </a:r>
          </a:p>
        </p:txBody>
      </p:sp>
      <p:sp>
        <p:nvSpPr>
          <p:cNvPr id="21" name="tile d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22" name="tile f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f</a:t>
            </a:r>
          </a:p>
        </p:txBody>
      </p:sp>
      <p:sp>
        <p:nvSpPr>
          <p:cNvPr id="23" name="tile c"/>
          <p:cNvSpPr/>
          <p:nvPr/>
        </p:nvSpPr>
        <p:spPr>
          <a:xfrm>
            <a:off x="795070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24" name="tile n"/>
          <p:cNvSpPr/>
          <p:nvPr/>
        </p:nvSpPr>
        <p:spPr>
          <a:xfrm>
            <a:off x="898398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366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502170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ice cream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雪糕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3"/>
          <p:cNvSpPr/>
          <p:nvPr/>
        </p:nvSpPr>
        <p:spPr>
          <a:xfrm>
            <a:off x="32461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ox 4"/>
          <p:cNvSpPr/>
          <p:nvPr/>
        </p:nvSpPr>
        <p:spPr>
          <a:xfrm>
            <a:off x="44348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box 5"/>
          <p:cNvSpPr/>
          <p:nvPr/>
        </p:nvSpPr>
        <p:spPr>
          <a:xfrm>
            <a:off x="562356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ox 6"/>
          <p:cNvSpPr/>
          <p:nvPr/>
        </p:nvSpPr>
        <p:spPr>
          <a:xfrm>
            <a:off x="681228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counter 4"/>
          <p:cNvSpPr/>
          <p:nvPr/>
        </p:nvSpPr>
        <p:spPr>
          <a:xfrm>
            <a:off x="25146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counter 5"/>
          <p:cNvSpPr/>
          <p:nvPr/>
        </p:nvSpPr>
        <p:spPr>
          <a:xfrm>
            <a:off x="32004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counter 6"/>
          <p:cNvSpPr/>
          <p:nvPr/>
        </p:nvSpPr>
        <p:spPr>
          <a:xfrm>
            <a:off x="3886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i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i</a:t>
            </a:r>
          </a:p>
        </p:txBody>
      </p:sp>
      <p:sp>
        <p:nvSpPr>
          <p:cNvPr id="19" name="tile r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r</a:t>
            </a:r>
          </a:p>
        </p:txBody>
      </p:sp>
      <p:sp>
        <p:nvSpPr>
          <p:cNvPr id="20" name="tile a"/>
          <p:cNvSpPr/>
          <p:nvPr/>
        </p:nvSpPr>
        <p:spPr>
          <a:xfrm>
            <a:off x="252374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21" name="tile ce"/>
          <p:cNvSpPr/>
          <p:nvPr/>
        </p:nvSpPr>
        <p:spPr>
          <a:xfrm>
            <a:off x="355701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ce</a:t>
            </a:r>
          </a:p>
        </p:txBody>
      </p:sp>
      <p:sp>
        <p:nvSpPr>
          <p:cNvPr id="22" name="tile m"/>
          <p:cNvSpPr/>
          <p:nvPr/>
        </p:nvSpPr>
        <p:spPr>
          <a:xfrm>
            <a:off x="459028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m</a:t>
            </a:r>
          </a:p>
        </p:txBody>
      </p:sp>
      <p:sp>
        <p:nvSpPr>
          <p:cNvPr id="23" name="tile are"/>
          <p:cNvSpPr/>
          <p:nvPr/>
        </p:nvSpPr>
        <p:spPr>
          <a:xfrm>
            <a:off x="5623559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24" name="tile ai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ai</a:t>
            </a:r>
          </a:p>
        </p:txBody>
      </p:sp>
      <p:sp>
        <p:nvSpPr>
          <p:cNvPr id="25" name="tile d"/>
          <p:cNvSpPr/>
          <p:nvPr/>
        </p:nvSpPr>
        <p:spPr>
          <a:xfrm>
            <a:off x="795070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26" name="tile ea"/>
          <p:cNvSpPr/>
          <p:nvPr/>
        </p:nvSpPr>
        <p:spPr>
          <a:xfrm>
            <a:off x="898398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ea</a:t>
            </a:r>
          </a:p>
        </p:txBody>
      </p:sp>
      <p:sp>
        <p:nvSpPr>
          <p:cNvPr id="27" name="tile c"/>
          <p:cNvSpPr/>
          <p:nvPr/>
        </p:nvSpPr>
        <p:spPr>
          <a:xfrm>
            <a:off x="10017251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418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1005016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elephant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大象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3"/>
          <p:cNvSpPr/>
          <p:nvPr/>
        </p:nvSpPr>
        <p:spPr>
          <a:xfrm>
            <a:off x="32461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ox 4"/>
          <p:cNvSpPr/>
          <p:nvPr/>
        </p:nvSpPr>
        <p:spPr>
          <a:xfrm>
            <a:off x="48463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box 5"/>
          <p:cNvSpPr/>
          <p:nvPr/>
        </p:nvSpPr>
        <p:spPr>
          <a:xfrm>
            <a:off x="60350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ox 6"/>
          <p:cNvSpPr/>
          <p:nvPr/>
        </p:nvSpPr>
        <p:spPr>
          <a:xfrm>
            <a:off x="722376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ox 7"/>
          <p:cNvSpPr/>
          <p:nvPr/>
        </p:nvSpPr>
        <p:spPr>
          <a:xfrm>
            <a:off x="841248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counter 4"/>
          <p:cNvSpPr/>
          <p:nvPr/>
        </p:nvSpPr>
        <p:spPr>
          <a:xfrm>
            <a:off x="25146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counter 5"/>
          <p:cNvSpPr/>
          <p:nvPr/>
        </p:nvSpPr>
        <p:spPr>
          <a:xfrm>
            <a:off x="32004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counter 6"/>
          <p:cNvSpPr/>
          <p:nvPr/>
        </p:nvSpPr>
        <p:spPr>
          <a:xfrm>
            <a:off x="3886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counter 7"/>
          <p:cNvSpPr/>
          <p:nvPr/>
        </p:nvSpPr>
        <p:spPr>
          <a:xfrm>
            <a:off x="4572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e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e</a:t>
            </a:r>
          </a:p>
        </p:txBody>
      </p:sp>
      <p:sp>
        <p:nvSpPr>
          <p:cNvPr id="21" name="tile ai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ai</a:t>
            </a:r>
          </a:p>
        </p:txBody>
      </p:sp>
      <p:sp>
        <p:nvSpPr>
          <p:cNvPr id="22" name="tile are"/>
          <p:cNvSpPr/>
          <p:nvPr/>
        </p:nvSpPr>
        <p:spPr>
          <a:xfrm>
            <a:off x="2523744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23" name="tile ph"/>
          <p:cNvSpPr/>
          <p:nvPr/>
        </p:nvSpPr>
        <p:spPr>
          <a:xfrm>
            <a:off x="381762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ph</a:t>
            </a:r>
          </a:p>
        </p:txBody>
      </p:sp>
      <p:sp>
        <p:nvSpPr>
          <p:cNvPr id="24" name="tile a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25" name="tile t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t</a:t>
            </a:r>
          </a:p>
        </p:txBody>
      </p:sp>
      <p:sp>
        <p:nvSpPr>
          <p:cNvPr id="26" name="tile ce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ce</a:t>
            </a:r>
          </a:p>
        </p:txBody>
      </p:sp>
      <p:sp>
        <p:nvSpPr>
          <p:cNvPr id="27" name="tile n"/>
          <p:cNvSpPr/>
          <p:nvPr/>
        </p:nvSpPr>
        <p:spPr>
          <a:xfrm>
            <a:off x="795070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n</a:t>
            </a:r>
          </a:p>
        </p:txBody>
      </p:sp>
      <p:sp>
        <p:nvSpPr>
          <p:cNvPr id="28" name="tile c"/>
          <p:cNvSpPr/>
          <p:nvPr/>
        </p:nvSpPr>
        <p:spPr>
          <a:xfrm>
            <a:off x="898398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29" name="tile l"/>
          <p:cNvSpPr/>
          <p:nvPr/>
        </p:nvSpPr>
        <p:spPr>
          <a:xfrm>
            <a:off x="10017251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l</a:t>
            </a:r>
          </a:p>
        </p:txBody>
      </p:sp>
      <p:sp>
        <p:nvSpPr>
          <p:cNvPr id="30" name="tile e"/>
          <p:cNvSpPr/>
          <p:nvPr/>
        </p:nvSpPr>
        <p:spPr>
          <a:xfrm>
            <a:off x="457200" y="57607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hinese"/>
          <p:cNvSpPr/>
          <p:nvPr/>
        </p:nvSpPr>
        <p:spPr>
          <a:xfrm>
            <a:off x="731520" y="4572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豬</a:t>
            </a:r>
          </a:p>
        </p:txBody>
      </p:sp>
      <p:sp>
        <p:nvSpPr>
          <p:cNvPr id="4" name="meaning"/>
          <p:cNvSpPr/>
          <p:nvPr/>
        </p:nvSpPr>
        <p:spPr>
          <a:xfrm>
            <a:off x="4297680" y="45720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l"/>
            <a:r>
              <a:rPr sz="2600" b="0">
                <a:solidFill>
                  <a:srgbClr val="111111"/>
                </a:solidFill>
                <a:latin typeface="Arial"/>
                <a:ea typeface="Microsoft JhengHei"/>
              </a:rPr>
              <a:t>A pink farm animal.</a:t>
            </a:r>
          </a:p>
        </p:txBody>
      </p:sp>
      <p:sp>
        <p:nvSpPr>
          <p:cNvPr id="5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i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i</a:t>
            </a:r>
          </a:p>
        </p:txBody>
      </p:sp>
      <p:sp>
        <p:nvSpPr>
          <p:cNvPr id="12" name="tile c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13" name="tile a"/>
          <p:cNvSpPr/>
          <p:nvPr/>
        </p:nvSpPr>
        <p:spPr>
          <a:xfrm>
            <a:off x="252374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4" name="tile ai"/>
          <p:cNvSpPr/>
          <p:nvPr/>
        </p:nvSpPr>
        <p:spPr>
          <a:xfrm>
            <a:off x="355701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ai</a:t>
            </a:r>
          </a:p>
        </p:txBody>
      </p:sp>
      <p:sp>
        <p:nvSpPr>
          <p:cNvPr id="15" name="tile are"/>
          <p:cNvSpPr/>
          <p:nvPr/>
        </p:nvSpPr>
        <p:spPr>
          <a:xfrm>
            <a:off x="4590288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6" name="tile g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g</a:t>
            </a:r>
          </a:p>
        </p:txBody>
      </p:sp>
      <p:sp>
        <p:nvSpPr>
          <p:cNvPr id="17" name="tile p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hinese"/>
          <p:cNvSpPr/>
          <p:nvPr/>
        </p:nvSpPr>
        <p:spPr>
          <a:xfrm>
            <a:off x="731520" y="4572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傷心</a:t>
            </a:r>
          </a:p>
        </p:txBody>
      </p:sp>
      <p:sp>
        <p:nvSpPr>
          <p:cNvPr id="4" name="meaning"/>
          <p:cNvSpPr/>
          <p:nvPr/>
        </p:nvSpPr>
        <p:spPr>
          <a:xfrm>
            <a:off x="4297680" y="45720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l"/>
            <a:r>
              <a:rPr sz="2600" b="0">
                <a:solidFill>
                  <a:srgbClr val="111111"/>
                </a:solidFill>
                <a:latin typeface="Arial"/>
                <a:ea typeface="Microsoft JhengHei"/>
              </a:rPr>
              <a:t>You feel this when you want to cry.</a:t>
            </a:r>
          </a:p>
        </p:txBody>
      </p:sp>
      <p:sp>
        <p:nvSpPr>
          <p:cNvPr id="5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d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12" name="tile a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3" name="tile ce"/>
          <p:cNvSpPr/>
          <p:nvPr/>
        </p:nvSpPr>
        <p:spPr>
          <a:xfrm>
            <a:off x="252374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ce</a:t>
            </a:r>
          </a:p>
        </p:txBody>
      </p:sp>
      <p:sp>
        <p:nvSpPr>
          <p:cNvPr id="14" name="tile c"/>
          <p:cNvSpPr/>
          <p:nvPr/>
        </p:nvSpPr>
        <p:spPr>
          <a:xfrm>
            <a:off x="355701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15" name="tile ai"/>
          <p:cNvSpPr/>
          <p:nvPr/>
        </p:nvSpPr>
        <p:spPr>
          <a:xfrm>
            <a:off x="459028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ai</a:t>
            </a:r>
          </a:p>
        </p:txBody>
      </p:sp>
      <p:sp>
        <p:nvSpPr>
          <p:cNvPr id="16" name="tile are"/>
          <p:cNvSpPr/>
          <p:nvPr/>
        </p:nvSpPr>
        <p:spPr>
          <a:xfrm>
            <a:off x="5623559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7" name="tile s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hinese"/>
          <p:cNvSpPr/>
          <p:nvPr/>
        </p:nvSpPr>
        <p:spPr>
          <a:xfrm>
            <a:off x="731520" y="4572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熱</a:t>
            </a:r>
          </a:p>
        </p:txBody>
      </p:sp>
      <p:sp>
        <p:nvSpPr>
          <p:cNvPr id="4" name="meaning"/>
          <p:cNvSpPr/>
          <p:nvPr/>
        </p:nvSpPr>
        <p:spPr>
          <a:xfrm>
            <a:off x="4297680" y="45720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l"/>
            <a:r>
              <a:rPr sz="2600" b="0">
                <a:solidFill>
                  <a:srgbClr val="111111"/>
                </a:solidFill>
                <a:latin typeface="Arial"/>
                <a:ea typeface="Microsoft JhengHei"/>
              </a:rPr>
              <a:t>Very warm. Not cold.</a:t>
            </a:r>
          </a:p>
        </p:txBody>
      </p:sp>
      <p:sp>
        <p:nvSpPr>
          <p:cNvPr id="5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o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o</a:t>
            </a:r>
          </a:p>
        </p:txBody>
      </p:sp>
      <p:sp>
        <p:nvSpPr>
          <p:cNvPr id="12" name="tile t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t</a:t>
            </a:r>
          </a:p>
        </p:txBody>
      </p:sp>
      <p:sp>
        <p:nvSpPr>
          <p:cNvPr id="13" name="tile a"/>
          <p:cNvSpPr/>
          <p:nvPr/>
        </p:nvSpPr>
        <p:spPr>
          <a:xfrm>
            <a:off x="252374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4" name="tile ai"/>
          <p:cNvSpPr/>
          <p:nvPr/>
        </p:nvSpPr>
        <p:spPr>
          <a:xfrm>
            <a:off x="355701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ai</a:t>
            </a:r>
          </a:p>
        </p:txBody>
      </p:sp>
      <p:sp>
        <p:nvSpPr>
          <p:cNvPr id="15" name="tile c"/>
          <p:cNvSpPr/>
          <p:nvPr/>
        </p:nvSpPr>
        <p:spPr>
          <a:xfrm>
            <a:off x="459028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16" name="tile are"/>
          <p:cNvSpPr/>
          <p:nvPr/>
        </p:nvSpPr>
        <p:spPr>
          <a:xfrm>
            <a:off x="5623559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7" name="tile h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hinese"/>
          <p:cNvSpPr/>
          <p:nvPr/>
        </p:nvSpPr>
        <p:spPr>
          <a:xfrm>
            <a:off x="731520" y="4572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給</a:t>
            </a:r>
          </a:p>
        </p:txBody>
      </p:sp>
      <p:sp>
        <p:nvSpPr>
          <p:cNvPr id="4" name="meaning"/>
          <p:cNvSpPr/>
          <p:nvPr/>
        </p:nvSpPr>
        <p:spPr>
          <a:xfrm>
            <a:off x="4297680" y="45720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l"/>
            <a:r>
              <a:rPr sz="2600" b="0">
                <a:solidFill>
                  <a:srgbClr val="111111"/>
                </a:solidFill>
                <a:latin typeface="Arial"/>
                <a:ea typeface="Microsoft JhengHei"/>
              </a:rPr>
              <a:t>You hand something to a person.</a:t>
            </a:r>
          </a:p>
        </p:txBody>
      </p:sp>
      <p:sp>
        <p:nvSpPr>
          <p:cNvPr id="5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ve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ve</a:t>
            </a:r>
          </a:p>
        </p:txBody>
      </p:sp>
      <p:sp>
        <p:nvSpPr>
          <p:cNvPr id="12" name="tile g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g</a:t>
            </a:r>
          </a:p>
        </p:txBody>
      </p:sp>
      <p:sp>
        <p:nvSpPr>
          <p:cNvPr id="13" name="tile c"/>
          <p:cNvSpPr/>
          <p:nvPr/>
        </p:nvSpPr>
        <p:spPr>
          <a:xfrm>
            <a:off x="252374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14" name="tile are"/>
          <p:cNvSpPr/>
          <p:nvPr/>
        </p:nvSpPr>
        <p:spPr>
          <a:xfrm>
            <a:off x="3557015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5" name="tile ai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ai</a:t>
            </a:r>
          </a:p>
        </p:txBody>
      </p:sp>
      <p:sp>
        <p:nvSpPr>
          <p:cNvPr id="16" name="tile a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7" name="tile i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hinese"/>
          <p:cNvSpPr/>
          <p:nvPr/>
        </p:nvSpPr>
        <p:spPr>
          <a:xfrm>
            <a:off x="731520" y="4572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等</a:t>
            </a:r>
          </a:p>
        </p:txBody>
      </p:sp>
      <p:sp>
        <p:nvSpPr>
          <p:cNvPr id="4" name="meaning"/>
          <p:cNvSpPr/>
          <p:nvPr/>
        </p:nvSpPr>
        <p:spPr>
          <a:xfrm>
            <a:off x="4297680" y="45720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l"/>
            <a:r>
              <a:rPr sz="2600" b="0">
                <a:solidFill>
                  <a:srgbClr val="111111"/>
                </a:solidFill>
                <a:latin typeface="Arial"/>
                <a:ea typeface="Microsoft JhengHei"/>
              </a:rPr>
              <a:t>Stay. Do not go yet.</a:t>
            </a:r>
          </a:p>
        </p:txBody>
      </p:sp>
      <p:sp>
        <p:nvSpPr>
          <p:cNvPr id="5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t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t</a:t>
            </a:r>
          </a:p>
        </p:txBody>
      </p:sp>
      <p:sp>
        <p:nvSpPr>
          <p:cNvPr id="12" name="tile c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13" name="tile are"/>
          <p:cNvSpPr/>
          <p:nvPr/>
        </p:nvSpPr>
        <p:spPr>
          <a:xfrm>
            <a:off x="2523744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4" name="tile ai"/>
          <p:cNvSpPr/>
          <p:nvPr/>
        </p:nvSpPr>
        <p:spPr>
          <a:xfrm>
            <a:off x="381762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ai</a:t>
            </a:r>
          </a:p>
        </p:txBody>
      </p:sp>
      <p:sp>
        <p:nvSpPr>
          <p:cNvPr id="15" name="tile ce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ce</a:t>
            </a:r>
          </a:p>
        </p:txBody>
      </p:sp>
      <p:sp>
        <p:nvSpPr>
          <p:cNvPr id="16" name="tile w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w</a:t>
            </a:r>
          </a:p>
        </p:txBody>
      </p:sp>
      <p:sp>
        <p:nvSpPr>
          <p:cNvPr id="17" name="tile a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hinese"/>
          <p:cNvSpPr/>
          <p:nvPr/>
        </p:nvSpPr>
        <p:spPr>
          <a:xfrm>
            <a:off x="731520" y="4572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凍</a:t>
            </a:r>
          </a:p>
        </p:txBody>
      </p:sp>
      <p:sp>
        <p:nvSpPr>
          <p:cNvPr id="4" name="meaning"/>
          <p:cNvSpPr/>
          <p:nvPr/>
        </p:nvSpPr>
        <p:spPr>
          <a:xfrm>
            <a:off x="4297680" y="45720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l"/>
            <a:r>
              <a:rPr sz="2600" b="0">
                <a:solidFill>
                  <a:srgbClr val="111111"/>
                </a:solidFill>
                <a:latin typeface="Arial"/>
                <a:ea typeface="Microsoft JhengHei"/>
              </a:rPr>
              <a:t>Not hot. Ice is cold.</a:t>
            </a:r>
          </a:p>
        </p:txBody>
      </p:sp>
      <p:sp>
        <p:nvSpPr>
          <p:cNvPr id="5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4"/>
          <p:cNvSpPr/>
          <p:nvPr/>
        </p:nvSpPr>
        <p:spPr>
          <a:xfrm>
            <a:off x="402336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ounter 4"/>
          <p:cNvSpPr/>
          <p:nvPr/>
        </p:nvSpPr>
        <p:spPr>
          <a:xfrm>
            <a:off x="25146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o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o</a:t>
            </a:r>
          </a:p>
        </p:txBody>
      </p:sp>
      <p:sp>
        <p:nvSpPr>
          <p:cNvPr id="14" name="tile a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5" name="tile d"/>
          <p:cNvSpPr/>
          <p:nvPr/>
        </p:nvSpPr>
        <p:spPr>
          <a:xfrm>
            <a:off x="252374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16" name="tile l"/>
          <p:cNvSpPr/>
          <p:nvPr/>
        </p:nvSpPr>
        <p:spPr>
          <a:xfrm>
            <a:off x="355701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l</a:t>
            </a:r>
          </a:p>
        </p:txBody>
      </p:sp>
      <p:sp>
        <p:nvSpPr>
          <p:cNvPr id="17" name="tile are"/>
          <p:cNvSpPr/>
          <p:nvPr/>
        </p:nvSpPr>
        <p:spPr>
          <a:xfrm>
            <a:off x="4590288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8" name="tile c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19" name="tile ai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ai</a:t>
            </a:r>
          </a:p>
        </p:txBody>
      </p:sp>
      <p:sp>
        <p:nvSpPr>
          <p:cNvPr id="20" name="tile ce"/>
          <p:cNvSpPr/>
          <p:nvPr/>
        </p:nvSpPr>
        <p:spPr>
          <a:xfrm>
            <a:off x="795070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hinese"/>
          <p:cNvSpPr/>
          <p:nvPr/>
        </p:nvSpPr>
        <p:spPr>
          <a:xfrm>
            <a:off x="731520" y="4572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分享</a:t>
            </a:r>
          </a:p>
        </p:txBody>
      </p:sp>
      <p:sp>
        <p:nvSpPr>
          <p:cNvPr id="4" name="meaning"/>
          <p:cNvSpPr/>
          <p:nvPr/>
        </p:nvSpPr>
        <p:spPr>
          <a:xfrm>
            <a:off x="4297680" y="45720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l"/>
            <a:r>
              <a:rPr sz="2600" b="0">
                <a:solidFill>
                  <a:srgbClr val="111111"/>
                </a:solidFill>
                <a:latin typeface="Arial"/>
                <a:ea typeface="Microsoft JhengHei"/>
              </a:rPr>
              <a:t>You give some to a friend and keep some too.</a:t>
            </a:r>
          </a:p>
        </p:txBody>
      </p:sp>
      <p:sp>
        <p:nvSpPr>
          <p:cNvPr id="5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are"/>
          <p:cNvSpPr/>
          <p:nvPr/>
        </p:nvSpPr>
        <p:spPr>
          <a:xfrm>
            <a:off x="457200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0" name="tile sh"/>
          <p:cNvSpPr/>
          <p:nvPr/>
        </p:nvSpPr>
        <p:spPr>
          <a:xfrm>
            <a:off x="175107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sh</a:t>
            </a:r>
          </a:p>
        </p:txBody>
      </p:sp>
      <p:sp>
        <p:nvSpPr>
          <p:cNvPr id="11" name="tile ce"/>
          <p:cNvSpPr/>
          <p:nvPr/>
        </p:nvSpPr>
        <p:spPr>
          <a:xfrm>
            <a:off x="278434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ce</a:t>
            </a:r>
          </a:p>
        </p:txBody>
      </p:sp>
      <p:sp>
        <p:nvSpPr>
          <p:cNvPr id="12" name="tile a"/>
          <p:cNvSpPr/>
          <p:nvPr/>
        </p:nvSpPr>
        <p:spPr>
          <a:xfrm>
            <a:off x="381762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3" name="tile ai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ai</a:t>
            </a:r>
          </a:p>
        </p:txBody>
      </p:sp>
      <p:sp>
        <p:nvSpPr>
          <p:cNvPr id="14" name="tile c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hinese"/>
          <p:cNvSpPr/>
          <p:nvPr/>
        </p:nvSpPr>
        <p:spPr>
          <a:xfrm>
            <a:off x="731520" y="4572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朋友</a:t>
            </a:r>
          </a:p>
        </p:txBody>
      </p:sp>
      <p:sp>
        <p:nvSpPr>
          <p:cNvPr id="4" name="meaning"/>
          <p:cNvSpPr/>
          <p:nvPr/>
        </p:nvSpPr>
        <p:spPr>
          <a:xfrm>
            <a:off x="4297680" y="45720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l"/>
            <a:r>
              <a:rPr sz="2600" b="0">
                <a:solidFill>
                  <a:srgbClr val="111111"/>
                </a:solidFill>
                <a:latin typeface="Arial"/>
                <a:ea typeface="Microsoft JhengHei"/>
              </a:rPr>
              <a:t>A person you like. You play together.</a:t>
            </a:r>
          </a:p>
        </p:txBody>
      </p:sp>
      <p:sp>
        <p:nvSpPr>
          <p:cNvPr id="5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4"/>
          <p:cNvSpPr/>
          <p:nvPr/>
        </p:nvSpPr>
        <p:spPr>
          <a:xfrm>
            <a:off x="402336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ox 5"/>
          <p:cNvSpPr/>
          <p:nvPr/>
        </p:nvSpPr>
        <p:spPr>
          <a:xfrm>
            <a:off x="521208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ounter 4"/>
          <p:cNvSpPr/>
          <p:nvPr/>
        </p:nvSpPr>
        <p:spPr>
          <a:xfrm>
            <a:off x="25146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ounter 5"/>
          <p:cNvSpPr/>
          <p:nvPr/>
        </p:nvSpPr>
        <p:spPr>
          <a:xfrm>
            <a:off x="32004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ai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ai</a:t>
            </a:r>
          </a:p>
        </p:txBody>
      </p:sp>
      <p:sp>
        <p:nvSpPr>
          <p:cNvPr id="16" name="tile n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n</a:t>
            </a:r>
          </a:p>
        </p:txBody>
      </p:sp>
      <p:sp>
        <p:nvSpPr>
          <p:cNvPr id="17" name="tile d"/>
          <p:cNvSpPr/>
          <p:nvPr/>
        </p:nvSpPr>
        <p:spPr>
          <a:xfrm>
            <a:off x="252374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18" name="tile a"/>
          <p:cNvSpPr/>
          <p:nvPr/>
        </p:nvSpPr>
        <p:spPr>
          <a:xfrm>
            <a:off x="355701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9" name="tile c"/>
          <p:cNvSpPr/>
          <p:nvPr/>
        </p:nvSpPr>
        <p:spPr>
          <a:xfrm>
            <a:off x="459028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20" name="tile are"/>
          <p:cNvSpPr/>
          <p:nvPr/>
        </p:nvSpPr>
        <p:spPr>
          <a:xfrm>
            <a:off x="5623559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21" name="tile r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r</a:t>
            </a:r>
          </a:p>
        </p:txBody>
      </p:sp>
      <p:sp>
        <p:nvSpPr>
          <p:cNvPr id="22" name="tile ie"/>
          <p:cNvSpPr/>
          <p:nvPr/>
        </p:nvSpPr>
        <p:spPr>
          <a:xfrm>
            <a:off x="795070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ie</a:t>
            </a:r>
          </a:p>
        </p:txBody>
      </p:sp>
      <p:sp>
        <p:nvSpPr>
          <p:cNvPr id="23" name="tile f"/>
          <p:cNvSpPr/>
          <p:nvPr/>
        </p:nvSpPr>
        <p:spPr>
          <a:xfrm>
            <a:off x="898398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hinese"/>
          <p:cNvSpPr/>
          <p:nvPr/>
        </p:nvSpPr>
        <p:spPr>
          <a:xfrm>
            <a:off x="731520" y="4572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雪糕</a:t>
            </a:r>
          </a:p>
        </p:txBody>
      </p:sp>
      <p:sp>
        <p:nvSpPr>
          <p:cNvPr id="4" name="meaning"/>
          <p:cNvSpPr/>
          <p:nvPr/>
        </p:nvSpPr>
        <p:spPr>
          <a:xfrm>
            <a:off x="4297680" y="45720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l"/>
            <a:r>
              <a:rPr sz="2600" b="0">
                <a:solidFill>
                  <a:srgbClr val="111111"/>
                </a:solidFill>
                <a:latin typeface="Arial"/>
                <a:ea typeface="Microsoft JhengHei"/>
              </a:rPr>
              <a:t>A cold, sweet food.</a:t>
            </a:r>
          </a:p>
        </p:txBody>
      </p:sp>
      <p:sp>
        <p:nvSpPr>
          <p:cNvPr id="5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3"/>
          <p:cNvSpPr/>
          <p:nvPr/>
        </p:nvSpPr>
        <p:spPr>
          <a:xfrm>
            <a:off x="32461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4"/>
          <p:cNvSpPr/>
          <p:nvPr/>
        </p:nvSpPr>
        <p:spPr>
          <a:xfrm>
            <a:off x="44348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ox 5"/>
          <p:cNvSpPr/>
          <p:nvPr/>
        </p:nvSpPr>
        <p:spPr>
          <a:xfrm>
            <a:off x="562356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box 6"/>
          <p:cNvSpPr/>
          <p:nvPr/>
        </p:nvSpPr>
        <p:spPr>
          <a:xfrm>
            <a:off x="681228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ounter 4"/>
          <p:cNvSpPr/>
          <p:nvPr/>
        </p:nvSpPr>
        <p:spPr>
          <a:xfrm>
            <a:off x="25146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counter 5"/>
          <p:cNvSpPr/>
          <p:nvPr/>
        </p:nvSpPr>
        <p:spPr>
          <a:xfrm>
            <a:off x="32004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counter 6"/>
          <p:cNvSpPr/>
          <p:nvPr/>
        </p:nvSpPr>
        <p:spPr>
          <a:xfrm>
            <a:off x="3886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are"/>
          <p:cNvSpPr/>
          <p:nvPr/>
        </p:nvSpPr>
        <p:spPr>
          <a:xfrm>
            <a:off x="457200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8" name="tile m"/>
          <p:cNvSpPr/>
          <p:nvPr/>
        </p:nvSpPr>
        <p:spPr>
          <a:xfrm>
            <a:off x="175107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m</a:t>
            </a:r>
          </a:p>
        </p:txBody>
      </p:sp>
      <p:sp>
        <p:nvSpPr>
          <p:cNvPr id="19" name="tile ce"/>
          <p:cNvSpPr/>
          <p:nvPr/>
        </p:nvSpPr>
        <p:spPr>
          <a:xfrm>
            <a:off x="278434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ce</a:t>
            </a:r>
          </a:p>
        </p:txBody>
      </p:sp>
      <p:sp>
        <p:nvSpPr>
          <p:cNvPr id="20" name="tile a"/>
          <p:cNvSpPr/>
          <p:nvPr/>
        </p:nvSpPr>
        <p:spPr>
          <a:xfrm>
            <a:off x="381762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21" name="tile c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22" name="tile r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r</a:t>
            </a:r>
          </a:p>
        </p:txBody>
      </p:sp>
      <p:sp>
        <p:nvSpPr>
          <p:cNvPr id="23" name="tile i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i</a:t>
            </a:r>
          </a:p>
        </p:txBody>
      </p:sp>
      <p:sp>
        <p:nvSpPr>
          <p:cNvPr id="24" name="tile d"/>
          <p:cNvSpPr/>
          <p:nvPr/>
        </p:nvSpPr>
        <p:spPr>
          <a:xfrm>
            <a:off x="795070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25" name="tile ai"/>
          <p:cNvSpPr/>
          <p:nvPr/>
        </p:nvSpPr>
        <p:spPr>
          <a:xfrm>
            <a:off x="898398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ai</a:t>
            </a:r>
          </a:p>
        </p:txBody>
      </p:sp>
      <p:sp>
        <p:nvSpPr>
          <p:cNvPr id="26" name="tile ea"/>
          <p:cNvSpPr/>
          <p:nvPr/>
        </p:nvSpPr>
        <p:spPr>
          <a:xfrm>
            <a:off x="10017251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ea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hinese"/>
          <p:cNvSpPr/>
          <p:nvPr/>
        </p:nvSpPr>
        <p:spPr>
          <a:xfrm>
            <a:off x="731520" y="4572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大象</a:t>
            </a:r>
          </a:p>
        </p:txBody>
      </p:sp>
      <p:sp>
        <p:nvSpPr>
          <p:cNvPr id="4" name="meaning"/>
          <p:cNvSpPr/>
          <p:nvPr/>
        </p:nvSpPr>
        <p:spPr>
          <a:xfrm>
            <a:off x="4297680" y="45720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l"/>
            <a:r>
              <a:rPr sz="2600" b="0">
                <a:solidFill>
                  <a:srgbClr val="111111"/>
                </a:solidFill>
                <a:latin typeface="Arial"/>
                <a:ea typeface="Microsoft JhengHei"/>
              </a:rPr>
              <a:t>A very big animal with a long trunk.</a:t>
            </a:r>
          </a:p>
        </p:txBody>
      </p:sp>
      <p:sp>
        <p:nvSpPr>
          <p:cNvPr id="5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3"/>
          <p:cNvSpPr/>
          <p:nvPr/>
        </p:nvSpPr>
        <p:spPr>
          <a:xfrm>
            <a:off x="32461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4"/>
          <p:cNvSpPr/>
          <p:nvPr/>
        </p:nvSpPr>
        <p:spPr>
          <a:xfrm>
            <a:off x="48463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ox 5"/>
          <p:cNvSpPr/>
          <p:nvPr/>
        </p:nvSpPr>
        <p:spPr>
          <a:xfrm>
            <a:off x="60350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box 6"/>
          <p:cNvSpPr/>
          <p:nvPr/>
        </p:nvSpPr>
        <p:spPr>
          <a:xfrm>
            <a:off x="722376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ox 7"/>
          <p:cNvSpPr/>
          <p:nvPr/>
        </p:nvSpPr>
        <p:spPr>
          <a:xfrm>
            <a:off x="841248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counter 4"/>
          <p:cNvSpPr/>
          <p:nvPr/>
        </p:nvSpPr>
        <p:spPr>
          <a:xfrm>
            <a:off x="25146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counter 5"/>
          <p:cNvSpPr/>
          <p:nvPr/>
        </p:nvSpPr>
        <p:spPr>
          <a:xfrm>
            <a:off x="32004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counter 6"/>
          <p:cNvSpPr/>
          <p:nvPr/>
        </p:nvSpPr>
        <p:spPr>
          <a:xfrm>
            <a:off x="3886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counter 7"/>
          <p:cNvSpPr/>
          <p:nvPr/>
        </p:nvSpPr>
        <p:spPr>
          <a:xfrm>
            <a:off x="4572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e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e</a:t>
            </a:r>
          </a:p>
        </p:txBody>
      </p:sp>
      <p:sp>
        <p:nvSpPr>
          <p:cNvPr id="20" name="tile ph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ph</a:t>
            </a:r>
          </a:p>
        </p:txBody>
      </p:sp>
      <p:sp>
        <p:nvSpPr>
          <p:cNvPr id="21" name="tile t"/>
          <p:cNvSpPr/>
          <p:nvPr/>
        </p:nvSpPr>
        <p:spPr>
          <a:xfrm>
            <a:off x="252374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t</a:t>
            </a:r>
          </a:p>
        </p:txBody>
      </p:sp>
      <p:sp>
        <p:nvSpPr>
          <p:cNvPr id="22" name="tile n"/>
          <p:cNvSpPr/>
          <p:nvPr/>
        </p:nvSpPr>
        <p:spPr>
          <a:xfrm>
            <a:off x="355701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n</a:t>
            </a:r>
          </a:p>
        </p:txBody>
      </p:sp>
      <p:sp>
        <p:nvSpPr>
          <p:cNvPr id="23" name="tile ce"/>
          <p:cNvSpPr/>
          <p:nvPr/>
        </p:nvSpPr>
        <p:spPr>
          <a:xfrm>
            <a:off x="459028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ce</a:t>
            </a:r>
          </a:p>
        </p:txBody>
      </p:sp>
      <p:sp>
        <p:nvSpPr>
          <p:cNvPr id="24" name="tile c"/>
          <p:cNvSpPr/>
          <p:nvPr/>
        </p:nvSpPr>
        <p:spPr>
          <a:xfrm>
            <a:off x="5623559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25" name="tile are"/>
          <p:cNvSpPr/>
          <p:nvPr/>
        </p:nvSpPr>
        <p:spPr>
          <a:xfrm>
            <a:off x="6656831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26" name="tile ai"/>
          <p:cNvSpPr/>
          <p:nvPr/>
        </p:nvSpPr>
        <p:spPr>
          <a:xfrm>
            <a:off x="7950707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ai</a:t>
            </a:r>
          </a:p>
        </p:txBody>
      </p:sp>
      <p:sp>
        <p:nvSpPr>
          <p:cNvPr id="27" name="tile e"/>
          <p:cNvSpPr/>
          <p:nvPr/>
        </p:nvSpPr>
        <p:spPr>
          <a:xfrm>
            <a:off x="898398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e</a:t>
            </a:r>
          </a:p>
        </p:txBody>
      </p:sp>
      <p:sp>
        <p:nvSpPr>
          <p:cNvPr id="28" name="tile a"/>
          <p:cNvSpPr/>
          <p:nvPr/>
        </p:nvSpPr>
        <p:spPr>
          <a:xfrm>
            <a:off x="10017251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29" name="tile l"/>
          <p:cNvSpPr/>
          <p:nvPr/>
        </p:nvSpPr>
        <p:spPr>
          <a:xfrm>
            <a:off x="457200" y="57607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437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1042587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pig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豬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4000" b="1">
                <a:solidFill>
                  <a:srgbClr val="111111"/>
                </a:solidFill>
                <a:latin typeface="Arial"/>
                <a:ea typeface="Microsoft JhengHei"/>
              </a:rPr>
              <a:t>i</a:t>
            </a:r>
          </a:p>
        </p:txBody>
      </p:sp>
      <p:sp>
        <p:nvSpPr>
          <p:cNvPr id="8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4000" b="1">
                <a:solidFill>
                  <a:srgbClr val="111111"/>
                </a:solidFill>
                <a:latin typeface="Arial"/>
                <a:ea typeface="Microsoft JhengHei"/>
              </a:rPr>
              <a:t>g</a:t>
            </a:r>
          </a:p>
        </p:txBody>
      </p:sp>
      <p:sp>
        <p:nvSpPr>
          <p:cNvPr id="9" name="tile b"/>
          <p:cNvSpPr/>
          <p:nvPr/>
        </p:nvSpPr>
        <p:spPr>
          <a:xfrm>
            <a:off x="457200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10" name="tile d"/>
          <p:cNvSpPr/>
          <p:nvPr/>
        </p:nvSpPr>
        <p:spPr>
          <a:xfrm>
            <a:off x="1490472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11" name="tile f"/>
          <p:cNvSpPr/>
          <p:nvPr/>
        </p:nvSpPr>
        <p:spPr>
          <a:xfrm>
            <a:off x="2523744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f</a:t>
            </a:r>
          </a:p>
        </p:txBody>
      </p:sp>
      <p:sp>
        <p:nvSpPr>
          <p:cNvPr id="12" name="tile j"/>
          <p:cNvSpPr/>
          <p:nvPr/>
        </p:nvSpPr>
        <p:spPr>
          <a:xfrm>
            <a:off x="3557015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j</a:t>
            </a:r>
          </a:p>
        </p:txBody>
      </p:sp>
      <p:sp>
        <p:nvSpPr>
          <p:cNvPr id="13" name="tile w"/>
          <p:cNvSpPr/>
          <p:nvPr/>
        </p:nvSpPr>
        <p:spPr>
          <a:xfrm>
            <a:off x="4590288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w</a:t>
            </a:r>
          </a:p>
        </p:txBody>
      </p:sp>
      <p:sp>
        <p:nvSpPr>
          <p:cNvPr id="14" name="tile bl"/>
          <p:cNvSpPr/>
          <p:nvPr/>
        </p:nvSpPr>
        <p:spPr>
          <a:xfrm>
            <a:off x="5623559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bl</a:t>
            </a:r>
          </a:p>
        </p:txBody>
      </p:sp>
      <p:sp>
        <p:nvSpPr>
          <p:cNvPr id="15" name="tile s"/>
          <p:cNvSpPr/>
          <p:nvPr/>
        </p:nvSpPr>
        <p:spPr>
          <a:xfrm>
            <a:off x="6656831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</a:t>
            </a:r>
          </a:p>
        </p:txBody>
      </p:sp>
      <p:sp>
        <p:nvSpPr>
          <p:cNvPr id="16" name="tile t"/>
          <p:cNvSpPr/>
          <p:nvPr/>
        </p:nvSpPr>
        <p:spPr>
          <a:xfrm>
            <a:off x="7690104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t</a:t>
            </a:r>
          </a:p>
        </p:txBody>
      </p:sp>
      <p:sp>
        <p:nvSpPr>
          <p:cNvPr id="17" name="tile z"/>
          <p:cNvSpPr/>
          <p:nvPr/>
        </p:nvSpPr>
        <p:spPr>
          <a:xfrm>
            <a:off x="8723376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z</a:t>
            </a:r>
          </a:p>
        </p:txBody>
      </p:sp>
      <p:sp>
        <p:nvSpPr>
          <p:cNvPr id="18" name="tile c"/>
          <p:cNvSpPr/>
          <p:nvPr/>
        </p:nvSpPr>
        <p:spPr>
          <a:xfrm>
            <a:off x="9756647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19" name="tile gl"/>
          <p:cNvSpPr/>
          <p:nvPr/>
        </p:nvSpPr>
        <p:spPr>
          <a:xfrm>
            <a:off x="10789919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gl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975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996043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hot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熱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4000" b="1">
                <a:solidFill>
                  <a:srgbClr val="111111"/>
                </a:solidFill>
                <a:latin typeface="Arial"/>
                <a:ea typeface="Microsoft JhengHei"/>
              </a:rPr>
              <a:t>o</a:t>
            </a:r>
          </a:p>
        </p:txBody>
      </p:sp>
      <p:sp>
        <p:nvSpPr>
          <p:cNvPr id="8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4000" b="1">
                <a:solidFill>
                  <a:srgbClr val="111111"/>
                </a:solidFill>
                <a:latin typeface="Arial"/>
                <a:ea typeface="Microsoft JhengHei"/>
              </a:rPr>
              <a:t>t</a:t>
            </a:r>
          </a:p>
        </p:txBody>
      </p:sp>
      <p:sp>
        <p:nvSpPr>
          <p:cNvPr id="9" name="tile c"/>
          <p:cNvSpPr/>
          <p:nvPr/>
        </p:nvSpPr>
        <p:spPr>
          <a:xfrm>
            <a:off x="457200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10" name="tile d"/>
          <p:cNvSpPr/>
          <p:nvPr/>
        </p:nvSpPr>
        <p:spPr>
          <a:xfrm>
            <a:off x="1490472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11" name="tile g"/>
          <p:cNvSpPr/>
          <p:nvPr/>
        </p:nvSpPr>
        <p:spPr>
          <a:xfrm>
            <a:off x="2523744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g</a:t>
            </a:r>
          </a:p>
        </p:txBody>
      </p:sp>
      <p:sp>
        <p:nvSpPr>
          <p:cNvPr id="12" name="tile l"/>
          <p:cNvSpPr/>
          <p:nvPr/>
        </p:nvSpPr>
        <p:spPr>
          <a:xfrm>
            <a:off x="3557015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l</a:t>
            </a:r>
          </a:p>
        </p:txBody>
      </p:sp>
      <p:sp>
        <p:nvSpPr>
          <p:cNvPr id="13" name="tile n"/>
          <p:cNvSpPr/>
          <p:nvPr/>
        </p:nvSpPr>
        <p:spPr>
          <a:xfrm>
            <a:off x="4590288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n</a:t>
            </a:r>
          </a:p>
        </p:txBody>
      </p:sp>
      <p:sp>
        <p:nvSpPr>
          <p:cNvPr id="14" name="tile p"/>
          <p:cNvSpPr/>
          <p:nvPr/>
        </p:nvSpPr>
        <p:spPr>
          <a:xfrm>
            <a:off x="5623559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p</a:t>
            </a:r>
          </a:p>
        </p:txBody>
      </p:sp>
      <p:sp>
        <p:nvSpPr>
          <p:cNvPr id="15" name="tile r"/>
          <p:cNvSpPr/>
          <p:nvPr/>
        </p:nvSpPr>
        <p:spPr>
          <a:xfrm>
            <a:off x="6656831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r</a:t>
            </a:r>
          </a:p>
        </p:txBody>
      </p:sp>
      <p:sp>
        <p:nvSpPr>
          <p:cNvPr id="16" name="tile sn"/>
          <p:cNvSpPr/>
          <p:nvPr/>
        </p:nvSpPr>
        <p:spPr>
          <a:xfrm>
            <a:off x="7690104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sn</a:t>
            </a:r>
          </a:p>
        </p:txBody>
      </p:sp>
      <p:sp>
        <p:nvSpPr>
          <p:cNvPr id="17" name="tile sh"/>
          <p:cNvSpPr/>
          <p:nvPr/>
        </p:nvSpPr>
        <p:spPr>
          <a:xfrm>
            <a:off x="8723376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sh</a:t>
            </a:r>
          </a:p>
        </p:txBody>
      </p:sp>
      <p:sp>
        <p:nvSpPr>
          <p:cNvPr id="18" name="tile tr"/>
          <p:cNvSpPr/>
          <p:nvPr/>
        </p:nvSpPr>
        <p:spPr>
          <a:xfrm>
            <a:off x="9756647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tr</a:t>
            </a:r>
          </a:p>
        </p:txBody>
      </p:sp>
      <p:sp>
        <p:nvSpPr>
          <p:cNvPr id="19" name="tile bl"/>
          <p:cNvSpPr/>
          <p:nvPr/>
        </p:nvSpPr>
        <p:spPr>
          <a:xfrm>
            <a:off x="10789919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622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955221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sad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傷心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40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8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40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9" name="tile b"/>
          <p:cNvSpPr/>
          <p:nvPr/>
        </p:nvSpPr>
        <p:spPr>
          <a:xfrm>
            <a:off x="457200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10" name="tile d"/>
          <p:cNvSpPr/>
          <p:nvPr/>
        </p:nvSpPr>
        <p:spPr>
          <a:xfrm>
            <a:off x="1490472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11" name="tile gl"/>
          <p:cNvSpPr/>
          <p:nvPr/>
        </p:nvSpPr>
        <p:spPr>
          <a:xfrm>
            <a:off x="2523744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gl</a:t>
            </a:r>
          </a:p>
        </p:txBody>
      </p:sp>
      <p:sp>
        <p:nvSpPr>
          <p:cNvPr id="12" name="tile h"/>
          <p:cNvSpPr/>
          <p:nvPr/>
        </p:nvSpPr>
        <p:spPr>
          <a:xfrm>
            <a:off x="3557015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h</a:t>
            </a:r>
          </a:p>
        </p:txBody>
      </p:sp>
      <p:sp>
        <p:nvSpPr>
          <p:cNvPr id="13" name="tile m"/>
          <p:cNvSpPr/>
          <p:nvPr/>
        </p:nvSpPr>
        <p:spPr>
          <a:xfrm>
            <a:off x="4590288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m</a:t>
            </a:r>
          </a:p>
        </p:txBody>
      </p:sp>
      <p:sp>
        <p:nvSpPr>
          <p:cNvPr id="14" name="tile p"/>
          <p:cNvSpPr/>
          <p:nvPr/>
        </p:nvSpPr>
        <p:spPr>
          <a:xfrm>
            <a:off x="5623559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p</a:t>
            </a:r>
          </a:p>
        </p:txBody>
      </p:sp>
      <p:sp>
        <p:nvSpPr>
          <p:cNvPr id="15" name="tile r"/>
          <p:cNvSpPr/>
          <p:nvPr/>
        </p:nvSpPr>
        <p:spPr>
          <a:xfrm>
            <a:off x="6656831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r</a:t>
            </a:r>
          </a:p>
        </p:txBody>
      </p:sp>
      <p:sp>
        <p:nvSpPr>
          <p:cNvPr id="16" name="tile z"/>
          <p:cNvSpPr/>
          <p:nvPr/>
        </p:nvSpPr>
        <p:spPr>
          <a:xfrm>
            <a:off x="7690104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z</a:t>
            </a:r>
          </a:p>
        </p:txBody>
      </p:sp>
      <p:sp>
        <p:nvSpPr>
          <p:cNvPr id="17" name="tile j"/>
          <p:cNvSpPr/>
          <p:nvPr/>
        </p:nvSpPr>
        <p:spPr>
          <a:xfrm>
            <a:off x="8723376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j</a:t>
            </a:r>
          </a:p>
        </p:txBody>
      </p:sp>
      <p:sp>
        <p:nvSpPr>
          <p:cNvPr id="18" name="tile sn"/>
          <p:cNvSpPr/>
          <p:nvPr/>
        </p:nvSpPr>
        <p:spPr>
          <a:xfrm>
            <a:off x="9756647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sn</a:t>
            </a:r>
          </a:p>
        </p:txBody>
      </p:sp>
      <p:sp>
        <p:nvSpPr>
          <p:cNvPr id="19" name="tile bl"/>
          <p:cNvSpPr/>
          <p:nvPr/>
        </p:nvSpPr>
        <p:spPr>
          <a:xfrm>
            <a:off x="10789919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976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899652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cold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凍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4000" b="1">
                <a:solidFill>
                  <a:srgbClr val="111111"/>
                </a:solidFill>
                <a:latin typeface="Arial"/>
                <a:ea typeface="Microsoft JhengHei"/>
              </a:rPr>
              <a:t>o</a:t>
            </a:r>
          </a:p>
        </p:txBody>
      </p:sp>
      <p:sp>
        <p:nvSpPr>
          <p:cNvPr id="8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4000" b="1">
                <a:solidFill>
                  <a:srgbClr val="111111"/>
                </a:solidFill>
                <a:latin typeface="Arial"/>
                <a:ea typeface="Microsoft JhengHei"/>
              </a:rPr>
              <a:t>l</a:t>
            </a:r>
          </a:p>
        </p:txBody>
      </p:sp>
      <p:sp>
        <p:nvSpPr>
          <p:cNvPr id="9" name="box 4"/>
          <p:cNvSpPr/>
          <p:nvPr/>
        </p:nvSpPr>
        <p:spPr>
          <a:xfrm>
            <a:off x="402336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40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10" name="tile "/>
          <p:cNvSpPr/>
          <p:nvPr/>
        </p:nvSpPr>
        <p:spPr>
          <a:xfrm>
            <a:off x="457200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/>
            </a:r>
          </a:p>
        </p:txBody>
      </p:sp>
      <p:sp>
        <p:nvSpPr>
          <p:cNvPr id="11" name="tile b"/>
          <p:cNvSpPr/>
          <p:nvPr/>
        </p:nvSpPr>
        <p:spPr>
          <a:xfrm>
            <a:off x="1490472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12" name="tile f"/>
          <p:cNvSpPr/>
          <p:nvPr/>
        </p:nvSpPr>
        <p:spPr>
          <a:xfrm>
            <a:off x="2523744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f</a:t>
            </a:r>
          </a:p>
        </p:txBody>
      </p:sp>
      <p:sp>
        <p:nvSpPr>
          <p:cNvPr id="13" name="tile g"/>
          <p:cNvSpPr/>
          <p:nvPr/>
        </p:nvSpPr>
        <p:spPr>
          <a:xfrm>
            <a:off x="3557015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g</a:t>
            </a:r>
          </a:p>
        </p:txBody>
      </p:sp>
      <p:sp>
        <p:nvSpPr>
          <p:cNvPr id="14" name="tile h"/>
          <p:cNvSpPr/>
          <p:nvPr/>
        </p:nvSpPr>
        <p:spPr>
          <a:xfrm>
            <a:off x="4590288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h</a:t>
            </a:r>
          </a:p>
        </p:txBody>
      </p:sp>
      <p:sp>
        <p:nvSpPr>
          <p:cNvPr id="15" name="tile s"/>
          <p:cNvSpPr/>
          <p:nvPr/>
        </p:nvSpPr>
        <p:spPr>
          <a:xfrm>
            <a:off x="5623559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</a:t>
            </a:r>
          </a:p>
        </p:txBody>
      </p:sp>
      <p:sp>
        <p:nvSpPr>
          <p:cNvPr id="16" name="tile t"/>
          <p:cNvSpPr/>
          <p:nvPr/>
        </p:nvSpPr>
        <p:spPr>
          <a:xfrm>
            <a:off x="6656831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t</a:t>
            </a:r>
          </a:p>
        </p:txBody>
      </p:sp>
      <p:sp>
        <p:nvSpPr>
          <p:cNvPr id="17" name="tile n"/>
          <p:cNvSpPr/>
          <p:nvPr/>
        </p:nvSpPr>
        <p:spPr>
          <a:xfrm>
            <a:off x="7690104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n</a:t>
            </a:r>
          </a:p>
        </p:txBody>
      </p:sp>
      <p:sp>
        <p:nvSpPr>
          <p:cNvPr id="18" name="tile k"/>
          <p:cNvSpPr/>
          <p:nvPr/>
        </p:nvSpPr>
        <p:spPr>
          <a:xfrm>
            <a:off x="8723376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k</a:t>
            </a:r>
          </a:p>
        </p:txBody>
      </p:sp>
      <p:sp>
        <p:nvSpPr>
          <p:cNvPr id="19" name="tile j"/>
          <p:cNvSpPr/>
          <p:nvPr/>
        </p:nvSpPr>
        <p:spPr>
          <a:xfrm>
            <a:off x="9756647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j</a:t>
            </a:r>
          </a:p>
        </p:txBody>
      </p:sp>
      <p:sp>
        <p:nvSpPr>
          <p:cNvPr id="20" name="tile tr"/>
          <p:cNvSpPr/>
          <p:nvPr/>
        </p:nvSpPr>
        <p:spPr>
          <a:xfrm>
            <a:off x="10789919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tr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Sharing words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