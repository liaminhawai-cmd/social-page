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kind = 友善 🤗; mouse = 老鼠 🐭; take = 拿 ✋; turn = 輪流 🔄; snack = 小食 🍎. Drag a 中文 tile (and its picture) into the dotted box next to its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thanks = 多謝 🙏; zebra = 斑馬 🦓; share = 分享 🍪🤝; give = 給 🎁. Drag a 中文 tile (and its picture) into the dotted box next to its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k · i · n · d</a:t>
            </a:r>
          </a:p>
          <a:p>
            <a:r>
              <a:t>i says its own name (/eye/) in kind — the same in find and mind.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m · ou · se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 · a · ke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 · ur · n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 · n · a · ck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 · a · n · k · s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z · e  /  b · r · a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sh · are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g · i · ve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k · i · n · d</a:t>
            </a:r>
          </a:p>
          <a:p>
            <a:r>
              <a:t>i says its own name (/eye/) in kind — the same in find and mind.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m · ou · se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 · a · ke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 · ur · n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 · n · a · ck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 · a · n · k · s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z · e  /  b · r · a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sh · are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g · i · ve</a:t>
            </a:r>
          </a:p>
          <a:p>
            <a:r>
              <a:t>Counters first: say the word slowly and slide one counter into each box for each sound. Then swap the counters for letter 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Rhymes with mouse: house 房子, louse 蝨子, blouse 女裝上衣</a:t>
            </a:r>
          </a:p>
          <a:p>
            <a:r>
              <a:t>Some tiles make words that are not in the list; ask whether it is a real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Rhymes with take: make 做, cake 蛋糕, bake 焗, lake 湖, wake 醒, rake 耙, shake 搖, snake 蛇</a:t>
            </a:r>
          </a:p>
          <a:p>
            <a:r>
              <a:t>Some tiles make words that are not in the list; ask whether it is a real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Rhymes with snack: back 背, sack 大袋, pack 包, black 黑色, track 軌道, crack 裂縫, quack 嘎嘎叫</a:t>
            </a:r>
          </a:p>
          <a:p>
            <a:r>
              <a:t>Some tiles make words that are not in the list; ask whether it is a real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Rhymes with kind: find 找到, mind 介意, bind 綁, blind 盲, grind 磨</a:t>
            </a:r>
          </a:p>
          <a:p>
            <a:r>
              <a:t>Some tiles make words that are not in the list; ask whether it is a real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ord kind"/>
          <p:cNvSpPr/>
          <p:nvPr/>
        </p:nvSpPr>
        <p:spPr>
          <a:xfrm>
            <a:off x="548640" y="45720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kind</a:t>
            </a:r>
          </a:p>
        </p:txBody>
      </p:sp>
      <p:sp>
        <p:nvSpPr>
          <p:cNvPr id="3" name="place 1"/>
          <p:cNvSpPr/>
          <p:nvPr/>
        </p:nvSpPr>
        <p:spPr>
          <a:xfrm>
            <a:off x="4023360" y="45720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mouse"/>
          <p:cNvSpPr/>
          <p:nvPr/>
        </p:nvSpPr>
        <p:spPr>
          <a:xfrm>
            <a:off x="548640" y="164592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mouse</a:t>
            </a:r>
          </a:p>
        </p:txBody>
      </p:sp>
      <p:sp>
        <p:nvSpPr>
          <p:cNvPr id="5" name="place 2"/>
          <p:cNvSpPr/>
          <p:nvPr/>
        </p:nvSpPr>
        <p:spPr>
          <a:xfrm>
            <a:off x="4023360" y="164592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take"/>
          <p:cNvSpPr/>
          <p:nvPr/>
        </p:nvSpPr>
        <p:spPr>
          <a:xfrm>
            <a:off x="548640" y="283464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take</a:t>
            </a:r>
          </a:p>
        </p:txBody>
      </p:sp>
      <p:sp>
        <p:nvSpPr>
          <p:cNvPr id="7" name="place 3"/>
          <p:cNvSpPr/>
          <p:nvPr/>
        </p:nvSpPr>
        <p:spPr>
          <a:xfrm>
            <a:off x="4023360" y="283464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turn"/>
          <p:cNvSpPr/>
          <p:nvPr/>
        </p:nvSpPr>
        <p:spPr>
          <a:xfrm>
            <a:off x="548640" y="402336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turn</a:t>
            </a:r>
          </a:p>
        </p:txBody>
      </p:sp>
      <p:sp>
        <p:nvSpPr>
          <p:cNvPr id="9" name="place 4"/>
          <p:cNvSpPr/>
          <p:nvPr/>
        </p:nvSpPr>
        <p:spPr>
          <a:xfrm>
            <a:off x="4023360" y="402336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ord snack"/>
          <p:cNvSpPr/>
          <p:nvPr/>
        </p:nvSpPr>
        <p:spPr>
          <a:xfrm>
            <a:off x="548640" y="521208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snack</a:t>
            </a:r>
          </a:p>
        </p:txBody>
      </p:sp>
      <p:sp>
        <p:nvSpPr>
          <p:cNvPr id="11" name="place 5"/>
          <p:cNvSpPr/>
          <p:nvPr/>
        </p:nvSpPr>
        <p:spPr>
          <a:xfrm>
            <a:off x="4023360" y="521208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中文 take"/>
          <p:cNvSpPr/>
          <p:nvPr/>
        </p:nvSpPr>
        <p:spPr>
          <a:xfrm>
            <a:off x="7863840" y="45720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拿</a:t>
            </a:r>
          </a:p>
        </p:txBody>
      </p:sp>
      <p:pic>
        <p:nvPicPr>
          <p:cNvPr id="13" name="picture take" descr="270b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48640"/>
            <a:ext cx="608275" cy="777240"/>
          </a:xfrm>
          <a:prstGeom prst="rect">
            <a:avLst/>
          </a:prstGeom>
        </p:spPr>
      </p:pic>
      <p:sp>
        <p:nvSpPr>
          <p:cNvPr id="14" name="中文 turn"/>
          <p:cNvSpPr/>
          <p:nvPr/>
        </p:nvSpPr>
        <p:spPr>
          <a:xfrm>
            <a:off x="7863840" y="164592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輪流</a:t>
            </a:r>
          </a:p>
        </p:txBody>
      </p:sp>
      <p:pic>
        <p:nvPicPr>
          <p:cNvPr id="15" name="picture turn" descr="1f504-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737360"/>
            <a:ext cx="783717" cy="777240"/>
          </a:xfrm>
          <a:prstGeom prst="rect">
            <a:avLst/>
          </a:prstGeom>
        </p:spPr>
      </p:pic>
      <p:sp>
        <p:nvSpPr>
          <p:cNvPr id="16" name="中文 snack"/>
          <p:cNvSpPr/>
          <p:nvPr/>
        </p:nvSpPr>
        <p:spPr>
          <a:xfrm>
            <a:off x="7863840" y="283464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小食</a:t>
            </a:r>
          </a:p>
        </p:txBody>
      </p:sp>
      <p:pic>
        <p:nvPicPr>
          <p:cNvPr id="17" name="picture snack" descr="1f34e-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926080"/>
            <a:ext cx="726273" cy="777240"/>
          </a:xfrm>
          <a:prstGeom prst="rect">
            <a:avLst/>
          </a:prstGeom>
        </p:spPr>
      </p:pic>
      <p:sp>
        <p:nvSpPr>
          <p:cNvPr id="18" name="中文 kind"/>
          <p:cNvSpPr/>
          <p:nvPr/>
        </p:nvSpPr>
        <p:spPr>
          <a:xfrm>
            <a:off x="7863840" y="402336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友善</a:t>
            </a:r>
          </a:p>
        </p:txBody>
      </p:sp>
      <p:pic>
        <p:nvPicPr>
          <p:cNvPr id="19" name="picture kind" descr="1f917-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114800"/>
            <a:ext cx="873535" cy="777240"/>
          </a:xfrm>
          <a:prstGeom prst="rect">
            <a:avLst/>
          </a:prstGeom>
        </p:spPr>
      </p:pic>
      <p:sp>
        <p:nvSpPr>
          <p:cNvPr id="20" name="中文 mouse"/>
          <p:cNvSpPr/>
          <p:nvPr/>
        </p:nvSpPr>
        <p:spPr>
          <a:xfrm>
            <a:off x="7863840" y="521208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老鼠</a:t>
            </a:r>
          </a:p>
        </p:txBody>
      </p:sp>
      <p:pic>
        <p:nvPicPr>
          <p:cNvPr id="21" name="picture mouse" descr="1f42d-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5303520"/>
            <a:ext cx="10510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ord thanks"/>
          <p:cNvSpPr/>
          <p:nvPr/>
        </p:nvSpPr>
        <p:spPr>
          <a:xfrm>
            <a:off x="548640" y="45720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thanks</a:t>
            </a:r>
          </a:p>
        </p:txBody>
      </p:sp>
      <p:sp>
        <p:nvSpPr>
          <p:cNvPr id="3" name="place 1"/>
          <p:cNvSpPr/>
          <p:nvPr/>
        </p:nvSpPr>
        <p:spPr>
          <a:xfrm>
            <a:off x="4023360" y="45720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ord zebra"/>
          <p:cNvSpPr/>
          <p:nvPr/>
        </p:nvSpPr>
        <p:spPr>
          <a:xfrm>
            <a:off x="548640" y="164592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zebra</a:t>
            </a:r>
          </a:p>
        </p:txBody>
      </p:sp>
      <p:sp>
        <p:nvSpPr>
          <p:cNvPr id="5" name="place 2"/>
          <p:cNvSpPr/>
          <p:nvPr/>
        </p:nvSpPr>
        <p:spPr>
          <a:xfrm>
            <a:off x="4023360" y="164592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ord share"/>
          <p:cNvSpPr/>
          <p:nvPr/>
        </p:nvSpPr>
        <p:spPr>
          <a:xfrm>
            <a:off x="548640" y="283464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share</a:t>
            </a:r>
          </a:p>
        </p:txBody>
      </p:sp>
      <p:sp>
        <p:nvSpPr>
          <p:cNvPr id="7" name="place 3"/>
          <p:cNvSpPr/>
          <p:nvPr/>
        </p:nvSpPr>
        <p:spPr>
          <a:xfrm>
            <a:off x="4023360" y="283464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ord give"/>
          <p:cNvSpPr/>
          <p:nvPr/>
        </p:nvSpPr>
        <p:spPr>
          <a:xfrm>
            <a:off x="548640" y="4023360"/>
            <a:ext cx="3108960" cy="960120"/>
          </a:xfrm>
          <a:prstGeom prst="roundRect">
            <a:avLst/>
          </a:prstGeom>
          <a:solidFill>
            <a:srgbClr val="E9EFDC"/>
          </a:solidFill>
          <a:ln w="254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600" b="1">
                <a:solidFill>
                  <a:srgbClr val="111111"/>
                </a:solidFill>
                <a:latin typeface="Arial"/>
                <a:ea typeface="Microsoft JhengHei"/>
              </a:rPr>
              <a:t>give</a:t>
            </a:r>
          </a:p>
        </p:txBody>
      </p:sp>
      <p:sp>
        <p:nvSpPr>
          <p:cNvPr id="9" name="place 4"/>
          <p:cNvSpPr/>
          <p:nvPr/>
        </p:nvSpPr>
        <p:spPr>
          <a:xfrm>
            <a:off x="4023360" y="4023360"/>
            <a:ext cx="3108960" cy="960120"/>
          </a:xfrm>
          <a:prstGeom prst="rect">
            <a:avLst/>
          </a:prstGeom>
          <a:noFill/>
          <a:ln w="2540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中文 zebra"/>
          <p:cNvSpPr/>
          <p:nvPr/>
        </p:nvSpPr>
        <p:spPr>
          <a:xfrm>
            <a:off x="7863840" y="45720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斑馬</a:t>
            </a:r>
          </a:p>
        </p:txBody>
      </p:sp>
      <p:pic>
        <p:nvPicPr>
          <p:cNvPr id="11" name="picture zebra" descr="1f993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48640"/>
            <a:ext cx="797169" cy="777240"/>
          </a:xfrm>
          <a:prstGeom prst="rect">
            <a:avLst/>
          </a:prstGeom>
        </p:spPr>
      </p:pic>
      <p:sp>
        <p:nvSpPr>
          <p:cNvPr id="12" name="中文 thanks"/>
          <p:cNvSpPr/>
          <p:nvPr/>
        </p:nvSpPr>
        <p:spPr>
          <a:xfrm>
            <a:off x="7863840" y="164592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多謝</a:t>
            </a:r>
          </a:p>
        </p:txBody>
      </p:sp>
      <p:pic>
        <p:nvPicPr>
          <p:cNvPr id="13" name="picture thanks" descr="1f64f-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737360"/>
            <a:ext cx="671852" cy="777240"/>
          </a:xfrm>
          <a:prstGeom prst="rect">
            <a:avLst/>
          </a:prstGeom>
        </p:spPr>
      </p:pic>
      <p:sp>
        <p:nvSpPr>
          <p:cNvPr id="14" name="中文 share"/>
          <p:cNvSpPr/>
          <p:nvPr/>
        </p:nvSpPr>
        <p:spPr>
          <a:xfrm>
            <a:off x="7863840" y="283464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分享</a:t>
            </a:r>
          </a:p>
        </p:txBody>
      </p:sp>
      <p:pic>
        <p:nvPicPr>
          <p:cNvPr id="15" name="picture share" descr="1f36a-1f91d-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926080"/>
            <a:ext cx="1712563" cy="777240"/>
          </a:xfrm>
          <a:prstGeom prst="rect">
            <a:avLst/>
          </a:prstGeom>
        </p:spPr>
      </p:pic>
      <p:sp>
        <p:nvSpPr>
          <p:cNvPr id="16" name="中文 give"/>
          <p:cNvSpPr/>
          <p:nvPr/>
        </p:nvSpPr>
        <p:spPr>
          <a:xfrm>
            <a:off x="7863840" y="4023360"/>
            <a:ext cx="2103120" cy="960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400" b="0">
                <a:solidFill>
                  <a:srgbClr val="111111"/>
                </a:solidFill>
                <a:latin typeface="Arial"/>
                <a:ea typeface="Microsoft JhengHei"/>
              </a:rPr>
              <a:t>給</a:t>
            </a:r>
          </a:p>
        </p:txBody>
      </p:sp>
      <p:pic>
        <p:nvPicPr>
          <p:cNvPr id="17" name="picture give" descr="1f381-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114800"/>
            <a:ext cx="719903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917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027688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kind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友善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n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5" name="tile i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16" name="tile are"/>
          <p:cNvSpPr/>
          <p:nvPr/>
        </p:nvSpPr>
        <p:spPr>
          <a:xfrm>
            <a:off x="2523744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7" name="tile d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8" name="tile ck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9" name="tile a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20" name="tile k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k</a:t>
            </a:r>
          </a:p>
        </p:txBody>
      </p:sp>
      <p:sp>
        <p:nvSpPr>
          <p:cNvPr id="21" name="tile b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42d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236518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mouse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老鼠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ck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3" name="tile a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4" name="tile m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m</a:t>
            </a:r>
          </a:p>
        </p:txBody>
      </p:sp>
      <p:sp>
        <p:nvSpPr>
          <p:cNvPr id="15" name="tile se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se</a:t>
            </a:r>
          </a:p>
        </p:txBody>
      </p:sp>
      <p:sp>
        <p:nvSpPr>
          <p:cNvPr id="16" name="tile b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7" name="tile are"/>
          <p:cNvSpPr/>
          <p:nvPr/>
        </p:nvSpPr>
        <p:spPr>
          <a:xfrm>
            <a:off x="5623559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8" name="tile ou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270b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715617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take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拿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ck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3" name="tile b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4" name="tile ke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ke</a:t>
            </a:r>
          </a:p>
        </p:txBody>
      </p:sp>
      <p:sp>
        <p:nvSpPr>
          <p:cNvPr id="15" name="tile a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6" name="tile are"/>
          <p:cNvSpPr/>
          <p:nvPr/>
        </p:nvSpPr>
        <p:spPr>
          <a:xfrm>
            <a:off x="4590288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7" name="tile t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8" name="tile d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504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922020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turn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輪流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n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3" name="tile t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4" name="tile a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5" name="tile are"/>
          <p:cNvSpPr/>
          <p:nvPr/>
        </p:nvSpPr>
        <p:spPr>
          <a:xfrm>
            <a:off x="3557015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6" name="tile ur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ur</a:t>
            </a:r>
          </a:p>
        </p:txBody>
      </p:sp>
      <p:sp>
        <p:nvSpPr>
          <p:cNvPr id="17" name="tile ck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8" name="tile b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34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854439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snack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小食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a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5" name="tile ck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6" name="tile n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7" name="tile b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8" name="tile e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</a:t>
            </a:r>
          </a:p>
        </p:txBody>
      </p:sp>
      <p:sp>
        <p:nvSpPr>
          <p:cNvPr id="19" name="tile d"/>
          <p:cNvSpPr/>
          <p:nvPr/>
        </p:nvSpPr>
        <p:spPr>
          <a:xfrm>
            <a:off x="5623559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20" name="tile are"/>
          <p:cNvSpPr/>
          <p:nvPr/>
        </p:nvSpPr>
        <p:spPr>
          <a:xfrm>
            <a:off x="6656831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21" name="tile s"/>
          <p:cNvSpPr/>
          <p:nvPr/>
        </p:nvSpPr>
        <p:spPr>
          <a:xfrm>
            <a:off x="7950707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64f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790414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thanks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多謝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 5"/>
          <p:cNvSpPr/>
          <p:nvPr/>
        </p:nvSpPr>
        <p:spPr>
          <a:xfrm>
            <a:off x="521208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s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  <p:sp>
        <p:nvSpPr>
          <p:cNvPr id="17" name="tile b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8" name="tile are"/>
          <p:cNvSpPr/>
          <p:nvPr/>
        </p:nvSpPr>
        <p:spPr>
          <a:xfrm>
            <a:off x="2523744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9" name="tile k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k</a:t>
            </a:r>
          </a:p>
        </p:txBody>
      </p:sp>
      <p:sp>
        <p:nvSpPr>
          <p:cNvPr id="20" name="tile n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21" name="tile d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22" name="tile a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23" name="tile ck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24" name="tile th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993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937846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zebra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斑馬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32461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4"/>
          <p:cNvSpPr/>
          <p:nvPr/>
        </p:nvSpPr>
        <p:spPr>
          <a:xfrm>
            <a:off x="44348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box 5"/>
          <p:cNvSpPr/>
          <p:nvPr/>
        </p:nvSpPr>
        <p:spPr>
          <a:xfrm>
            <a:off x="56235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z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z</a:t>
            </a:r>
          </a:p>
        </p:txBody>
      </p:sp>
      <p:sp>
        <p:nvSpPr>
          <p:cNvPr id="17" name="tile d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8" name="tile e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</a:t>
            </a:r>
          </a:p>
        </p:txBody>
      </p:sp>
      <p:sp>
        <p:nvSpPr>
          <p:cNvPr id="19" name="tile g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20" name="tile ck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21" name="tile are"/>
          <p:cNvSpPr/>
          <p:nvPr/>
        </p:nvSpPr>
        <p:spPr>
          <a:xfrm>
            <a:off x="5623559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22" name="tile b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23" name="tile a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24" name="tile r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36a-1f91d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2014780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share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分享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ck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1" name="tile are"/>
          <p:cNvSpPr/>
          <p:nvPr/>
        </p:nvSpPr>
        <p:spPr>
          <a:xfrm>
            <a:off x="1490472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2" name="tile sh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sh</a:t>
            </a:r>
          </a:p>
        </p:txBody>
      </p:sp>
      <p:sp>
        <p:nvSpPr>
          <p:cNvPr id="13" name="tile b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4" name="tile a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5" name="tile d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381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846944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give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給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ve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ve</a:t>
            </a:r>
          </a:p>
        </p:txBody>
      </p:sp>
      <p:sp>
        <p:nvSpPr>
          <p:cNvPr id="13" name="tile are"/>
          <p:cNvSpPr/>
          <p:nvPr/>
        </p:nvSpPr>
        <p:spPr>
          <a:xfrm>
            <a:off x="1490472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4" name="tile ck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5" name="tile i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16" name="tile g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17" name="tile b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8" name="tile a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友善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Nice to other people. You help and you share.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n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4" name="tile d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5" name="tile b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6" name="tile a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7" name="tile k"/>
          <p:cNvSpPr/>
          <p:nvPr/>
        </p:nvSpPr>
        <p:spPr>
          <a:xfrm>
            <a:off x="459028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k</a:t>
            </a:r>
          </a:p>
        </p:txBody>
      </p:sp>
      <p:sp>
        <p:nvSpPr>
          <p:cNvPr id="18" name="tile ck"/>
          <p:cNvSpPr/>
          <p:nvPr/>
        </p:nvSpPr>
        <p:spPr>
          <a:xfrm>
            <a:off x="5623559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9" name="tile are"/>
          <p:cNvSpPr/>
          <p:nvPr/>
        </p:nvSpPr>
        <p:spPr>
          <a:xfrm>
            <a:off x="6656831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20" name="tile i"/>
          <p:cNvSpPr/>
          <p:nvPr/>
        </p:nvSpPr>
        <p:spPr>
          <a:xfrm>
            <a:off x="7950707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老鼠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A very small animal with a long tail.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are"/>
          <p:cNvSpPr/>
          <p:nvPr/>
        </p:nvSpPr>
        <p:spPr>
          <a:xfrm>
            <a:off x="457200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2" name="tile ou"/>
          <p:cNvSpPr/>
          <p:nvPr/>
        </p:nvSpPr>
        <p:spPr>
          <a:xfrm>
            <a:off x="175107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ou</a:t>
            </a:r>
          </a:p>
        </p:txBody>
      </p:sp>
      <p:sp>
        <p:nvSpPr>
          <p:cNvPr id="13" name="tile se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se</a:t>
            </a:r>
          </a:p>
        </p:txBody>
      </p:sp>
      <p:sp>
        <p:nvSpPr>
          <p:cNvPr id="14" name="tile m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m</a:t>
            </a:r>
          </a:p>
        </p:txBody>
      </p:sp>
      <p:sp>
        <p:nvSpPr>
          <p:cNvPr id="15" name="tile ck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6" name="tile b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7" name="tile a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拿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Get something into your hand.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b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2" name="tile ck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3" name="tile d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4" name="tile are"/>
          <p:cNvSpPr/>
          <p:nvPr/>
        </p:nvSpPr>
        <p:spPr>
          <a:xfrm>
            <a:off x="3557015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5" name="tile t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6" name="tile ke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ke</a:t>
            </a:r>
          </a:p>
        </p:txBody>
      </p:sp>
      <p:sp>
        <p:nvSpPr>
          <p:cNvPr id="17" name="tile a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輪流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Your go. Then it is my go.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ck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2" name="tile b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3" name="tile are"/>
          <p:cNvSpPr/>
          <p:nvPr/>
        </p:nvSpPr>
        <p:spPr>
          <a:xfrm>
            <a:off x="2523744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4" name="tile n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5" name="tile t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6" name="tile a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7" name="tile ur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ur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小食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A small food between meals.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e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</a:t>
            </a:r>
          </a:p>
        </p:txBody>
      </p:sp>
      <p:sp>
        <p:nvSpPr>
          <p:cNvPr id="14" name="tile s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  <p:sp>
        <p:nvSpPr>
          <p:cNvPr id="15" name="tile n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6" name="tile are"/>
          <p:cNvSpPr/>
          <p:nvPr/>
        </p:nvSpPr>
        <p:spPr>
          <a:xfrm>
            <a:off x="3557015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7" name="tile d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8" name="tile b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9" name="tile a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20" name="tile ck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多謝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Words you say when someone gives you something.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5"/>
          <p:cNvSpPr/>
          <p:nvPr/>
        </p:nvSpPr>
        <p:spPr>
          <a:xfrm>
            <a:off x="521208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are"/>
          <p:cNvSpPr/>
          <p:nvPr/>
        </p:nvSpPr>
        <p:spPr>
          <a:xfrm>
            <a:off x="457200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6" name="tile n"/>
          <p:cNvSpPr/>
          <p:nvPr/>
        </p:nvSpPr>
        <p:spPr>
          <a:xfrm>
            <a:off x="175107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7" name="tile a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8" name="tile b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9" name="tile ck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20" name="tile th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th</a:t>
            </a:r>
          </a:p>
        </p:txBody>
      </p:sp>
      <p:sp>
        <p:nvSpPr>
          <p:cNvPr id="21" name="tile k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k</a:t>
            </a:r>
          </a:p>
        </p:txBody>
      </p:sp>
      <p:sp>
        <p:nvSpPr>
          <p:cNvPr id="22" name="tile d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23" name="tile s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斑馬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A black and white striped animal.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32461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4"/>
          <p:cNvSpPr/>
          <p:nvPr/>
        </p:nvSpPr>
        <p:spPr>
          <a:xfrm>
            <a:off x="44348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ox 5"/>
          <p:cNvSpPr/>
          <p:nvPr/>
        </p:nvSpPr>
        <p:spPr>
          <a:xfrm>
            <a:off x="56235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unter 4"/>
          <p:cNvSpPr/>
          <p:nvPr/>
        </p:nvSpPr>
        <p:spPr>
          <a:xfrm>
            <a:off x="25146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unter 5"/>
          <p:cNvSpPr/>
          <p:nvPr/>
        </p:nvSpPr>
        <p:spPr>
          <a:xfrm>
            <a:off x="32004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d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6" name="tile a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7" name="tile e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e</a:t>
            </a:r>
          </a:p>
        </p:txBody>
      </p:sp>
      <p:sp>
        <p:nvSpPr>
          <p:cNvPr id="18" name="tile r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19" name="tile are"/>
          <p:cNvSpPr/>
          <p:nvPr/>
        </p:nvSpPr>
        <p:spPr>
          <a:xfrm>
            <a:off x="4590288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20" name="tile b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21" name="tile g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22" name="tile z"/>
          <p:cNvSpPr/>
          <p:nvPr/>
        </p:nvSpPr>
        <p:spPr>
          <a:xfrm>
            <a:off x="795070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z</a:t>
            </a:r>
          </a:p>
        </p:txBody>
      </p:sp>
      <p:sp>
        <p:nvSpPr>
          <p:cNvPr id="23" name="tile ck"/>
          <p:cNvSpPr/>
          <p:nvPr/>
        </p:nvSpPr>
        <p:spPr>
          <a:xfrm>
            <a:off x="898398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分享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You give some to a friend and keep some too.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d"/>
          <p:cNvSpPr/>
          <p:nvPr/>
        </p:nvSpPr>
        <p:spPr>
          <a:xfrm>
            <a:off x="45720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0" name="tile b"/>
          <p:cNvSpPr/>
          <p:nvPr/>
        </p:nvSpPr>
        <p:spPr>
          <a:xfrm>
            <a:off x="149047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1" name="tile ck"/>
          <p:cNvSpPr/>
          <p:nvPr/>
        </p:nvSpPr>
        <p:spPr>
          <a:xfrm>
            <a:off x="252374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2" name="tile a"/>
          <p:cNvSpPr/>
          <p:nvPr/>
        </p:nvSpPr>
        <p:spPr>
          <a:xfrm>
            <a:off x="355701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13" name="tile are"/>
          <p:cNvSpPr/>
          <p:nvPr/>
        </p:nvSpPr>
        <p:spPr>
          <a:xfrm>
            <a:off x="4590288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4" name="tile sh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Chinese"/>
          <p:cNvSpPr/>
          <p:nvPr/>
        </p:nvSpPr>
        <p:spPr>
          <a:xfrm>
            <a:off x="731520" y="4572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給</a:t>
            </a:r>
          </a:p>
        </p:txBody>
      </p:sp>
      <p:sp>
        <p:nvSpPr>
          <p:cNvPr id="4" name="meaning"/>
          <p:cNvSpPr/>
          <p:nvPr/>
        </p:nvSpPr>
        <p:spPr>
          <a:xfrm>
            <a:off x="4297680" y="457200"/>
            <a:ext cx="722376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l"/>
            <a:r>
              <a:rPr sz="2600" b="0">
                <a:solidFill>
                  <a:srgbClr val="111111"/>
                </a:solidFill>
                <a:latin typeface="Arial"/>
                <a:ea typeface="Microsoft JhengHei"/>
              </a:rPr>
              <a:t>You hand something to a person.</a:t>
            </a:r>
          </a:p>
        </p:txBody>
      </p:sp>
      <p:sp>
        <p:nvSpPr>
          <p:cNvPr id="5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unter 1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unter 2"/>
          <p:cNvSpPr/>
          <p:nvPr/>
        </p:nvSpPr>
        <p:spPr>
          <a:xfrm>
            <a:off x="11430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ounter 3"/>
          <p:cNvSpPr/>
          <p:nvPr/>
        </p:nvSpPr>
        <p:spPr>
          <a:xfrm>
            <a:off x="1828800" y="3657600"/>
            <a:ext cx="548640" cy="548640"/>
          </a:xfrm>
          <a:prstGeom prst="ellipse">
            <a:avLst/>
          </a:prstGeom>
          <a:solidFill>
            <a:srgbClr val="2F6FB0"/>
          </a:solidFill>
          <a:ln w="19050">
            <a:solidFill>
              <a:srgbClr val="1B4A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are"/>
          <p:cNvSpPr/>
          <p:nvPr/>
        </p:nvSpPr>
        <p:spPr>
          <a:xfrm>
            <a:off x="457200" y="4709160"/>
            <a:ext cx="1129284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are</a:t>
            </a:r>
          </a:p>
        </p:txBody>
      </p:sp>
      <p:sp>
        <p:nvSpPr>
          <p:cNvPr id="12" name="tile g"/>
          <p:cNvSpPr/>
          <p:nvPr/>
        </p:nvSpPr>
        <p:spPr>
          <a:xfrm>
            <a:off x="1751075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</a:t>
            </a:r>
          </a:p>
        </p:txBody>
      </p:sp>
      <p:sp>
        <p:nvSpPr>
          <p:cNvPr id="13" name="tile ve"/>
          <p:cNvSpPr/>
          <p:nvPr/>
        </p:nvSpPr>
        <p:spPr>
          <a:xfrm>
            <a:off x="2784348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ve</a:t>
            </a:r>
          </a:p>
        </p:txBody>
      </p:sp>
      <p:sp>
        <p:nvSpPr>
          <p:cNvPr id="14" name="tile b"/>
          <p:cNvSpPr/>
          <p:nvPr/>
        </p:nvSpPr>
        <p:spPr>
          <a:xfrm>
            <a:off x="3817620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5" name="tile i"/>
          <p:cNvSpPr/>
          <p:nvPr/>
        </p:nvSpPr>
        <p:spPr>
          <a:xfrm>
            <a:off x="4850892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16" name="tile ck"/>
          <p:cNvSpPr/>
          <p:nvPr/>
        </p:nvSpPr>
        <p:spPr>
          <a:xfrm>
            <a:off x="5884164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7" name="tile a"/>
          <p:cNvSpPr/>
          <p:nvPr/>
        </p:nvSpPr>
        <p:spPr>
          <a:xfrm>
            <a:off x="6917436" y="470916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42d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236518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mouse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老鼠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ou</a:t>
            </a:r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se</a:t>
            </a:r>
          </a:p>
        </p:txBody>
      </p:sp>
      <p:sp>
        <p:nvSpPr>
          <p:cNvPr id="9" name="tile bl"/>
          <p:cNvSpPr/>
          <p:nvPr/>
        </p:nvSpPr>
        <p:spPr>
          <a:xfrm>
            <a:off x="457200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bl</a:t>
            </a:r>
          </a:p>
        </p:txBody>
      </p:sp>
      <p:sp>
        <p:nvSpPr>
          <p:cNvPr id="10" name="tile h"/>
          <p:cNvSpPr/>
          <p:nvPr/>
        </p:nvSpPr>
        <p:spPr>
          <a:xfrm>
            <a:off x="1490472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h</a:t>
            </a:r>
          </a:p>
        </p:txBody>
      </p:sp>
      <p:sp>
        <p:nvSpPr>
          <p:cNvPr id="11" name="tile l"/>
          <p:cNvSpPr/>
          <p:nvPr/>
        </p:nvSpPr>
        <p:spPr>
          <a:xfrm>
            <a:off x="252374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  <p:sp>
        <p:nvSpPr>
          <p:cNvPr id="12" name="tile p"/>
          <p:cNvSpPr/>
          <p:nvPr/>
        </p:nvSpPr>
        <p:spPr>
          <a:xfrm>
            <a:off x="3557015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p</a:t>
            </a:r>
          </a:p>
        </p:txBody>
      </p:sp>
      <p:sp>
        <p:nvSpPr>
          <p:cNvPr id="13" name="tile y"/>
          <p:cNvSpPr/>
          <p:nvPr/>
        </p:nvSpPr>
        <p:spPr>
          <a:xfrm>
            <a:off x="4590288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y</a:t>
            </a:r>
          </a:p>
        </p:txBody>
      </p:sp>
      <p:sp>
        <p:nvSpPr>
          <p:cNvPr id="14" name="tile b"/>
          <p:cNvSpPr/>
          <p:nvPr/>
        </p:nvSpPr>
        <p:spPr>
          <a:xfrm>
            <a:off x="562355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5" name="tile c"/>
          <p:cNvSpPr/>
          <p:nvPr/>
        </p:nvSpPr>
        <p:spPr>
          <a:xfrm>
            <a:off x="6656831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6" name="tile t"/>
          <p:cNvSpPr/>
          <p:nvPr/>
        </p:nvSpPr>
        <p:spPr>
          <a:xfrm>
            <a:off x="769010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</a:t>
            </a:r>
          </a:p>
        </p:txBody>
      </p:sp>
      <p:sp>
        <p:nvSpPr>
          <p:cNvPr id="17" name="tile d"/>
          <p:cNvSpPr/>
          <p:nvPr/>
        </p:nvSpPr>
        <p:spPr>
          <a:xfrm>
            <a:off x="8723376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8" name="tile f"/>
          <p:cNvSpPr/>
          <p:nvPr/>
        </p:nvSpPr>
        <p:spPr>
          <a:xfrm>
            <a:off x="9756647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f</a:t>
            </a:r>
          </a:p>
        </p:txBody>
      </p:sp>
      <p:sp>
        <p:nvSpPr>
          <p:cNvPr id="19" name="tile qu"/>
          <p:cNvSpPr/>
          <p:nvPr/>
        </p:nvSpPr>
        <p:spPr>
          <a:xfrm>
            <a:off x="1078991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qu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270b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715617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take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拿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ke</a:t>
            </a:r>
          </a:p>
        </p:txBody>
      </p:sp>
      <p:sp>
        <p:nvSpPr>
          <p:cNvPr id="9" name="tile b"/>
          <p:cNvSpPr/>
          <p:nvPr/>
        </p:nvSpPr>
        <p:spPr>
          <a:xfrm>
            <a:off x="457200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0" name="tile c"/>
          <p:cNvSpPr/>
          <p:nvPr/>
        </p:nvSpPr>
        <p:spPr>
          <a:xfrm>
            <a:off x="1490472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11" name="tile l"/>
          <p:cNvSpPr/>
          <p:nvPr/>
        </p:nvSpPr>
        <p:spPr>
          <a:xfrm>
            <a:off x="252374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  <p:sp>
        <p:nvSpPr>
          <p:cNvPr id="12" name="tile m"/>
          <p:cNvSpPr/>
          <p:nvPr/>
        </p:nvSpPr>
        <p:spPr>
          <a:xfrm>
            <a:off x="3557015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m</a:t>
            </a:r>
          </a:p>
        </p:txBody>
      </p:sp>
      <p:sp>
        <p:nvSpPr>
          <p:cNvPr id="13" name="tile r"/>
          <p:cNvSpPr/>
          <p:nvPr/>
        </p:nvSpPr>
        <p:spPr>
          <a:xfrm>
            <a:off x="4590288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r</a:t>
            </a:r>
          </a:p>
        </p:txBody>
      </p:sp>
      <p:sp>
        <p:nvSpPr>
          <p:cNvPr id="14" name="tile sh"/>
          <p:cNvSpPr/>
          <p:nvPr/>
        </p:nvSpPr>
        <p:spPr>
          <a:xfrm>
            <a:off x="562355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sh</a:t>
            </a:r>
          </a:p>
        </p:txBody>
      </p:sp>
      <p:sp>
        <p:nvSpPr>
          <p:cNvPr id="15" name="tile sn"/>
          <p:cNvSpPr/>
          <p:nvPr/>
        </p:nvSpPr>
        <p:spPr>
          <a:xfrm>
            <a:off x="6656831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sn</a:t>
            </a:r>
          </a:p>
        </p:txBody>
      </p:sp>
      <p:sp>
        <p:nvSpPr>
          <p:cNvPr id="16" name="tile w"/>
          <p:cNvSpPr/>
          <p:nvPr/>
        </p:nvSpPr>
        <p:spPr>
          <a:xfrm>
            <a:off x="769010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w</a:t>
            </a:r>
          </a:p>
        </p:txBody>
      </p:sp>
      <p:sp>
        <p:nvSpPr>
          <p:cNvPr id="17" name="tile cr"/>
          <p:cNvSpPr/>
          <p:nvPr/>
        </p:nvSpPr>
        <p:spPr>
          <a:xfrm>
            <a:off x="8723376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cr</a:t>
            </a:r>
          </a:p>
        </p:txBody>
      </p:sp>
      <p:sp>
        <p:nvSpPr>
          <p:cNvPr id="18" name="tile d"/>
          <p:cNvSpPr/>
          <p:nvPr/>
        </p:nvSpPr>
        <p:spPr>
          <a:xfrm>
            <a:off x="9756647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9" name="tile n"/>
          <p:cNvSpPr/>
          <p:nvPr/>
        </p:nvSpPr>
        <p:spPr>
          <a:xfrm>
            <a:off x="1078991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34e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854439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snack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小食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9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ck</a:t>
            </a:r>
          </a:p>
        </p:txBody>
      </p:sp>
      <p:sp>
        <p:nvSpPr>
          <p:cNvPr id="10" name="tile b"/>
          <p:cNvSpPr/>
          <p:nvPr/>
        </p:nvSpPr>
        <p:spPr>
          <a:xfrm>
            <a:off x="457200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1" name="tile bl"/>
          <p:cNvSpPr/>
          <p:nvPr/>
        </p:nvSpPr>
        <p:spPr>
          <a:xfrm>
            <a:off x="1490472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bl</a:t>
            </a:r>
          </a:p>
        </p:txBody>
      </p:sp>
      <p:sp>
        <p:nvSpPr>
          <p:cNvPr id="12" name="tile cr"/>
          <p:cNvSpPr/>
          <p:nvPr/>
        </p:nvSpPr>
        <p:spPr>
          <a:xfrm>
            <a:off x="252374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cr</a:t>
            </a:r>
          </a:p>
        </p:txBody>
      </p:sp>
      <p:sp>
        <p:nvSpPr>
          <p:cNvPr id="13" name="tile p"/>
          <p:cNvSpPr/>
          <p:nvPr/>
        </p:nvSpPr>
        <p:spPr>
          <a:xfrm>
            <a:off x="3557015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p</a:t>
            </a:r>
          </a:p>
        </p:txBody>
      </p:sp>
      <p:sp>
        <p:nvSpPr>
          <p:cNvPr id="14" name="tile qu"/>
          <p:cNvSpPr/>
          <p:nvPr/>
        </p:nvSpPr>
        <p:spPr>
          <a:xfrm>
            <a:off x="4590288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qu</a:t>
            </a:r>
          </a:p>
        </p:txBody>
      </p:sp>
      <p:sp>
        <p:nvSpPr>
          <p:cNvPr id="15" name="tile s"/>
          <p:cNvSpPr/>
          <p:nvPr/>
        </p:nvSpPr>
        <p:spPr>
          <a:xfrm>
            <a:off x="562355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  <p:sp>
        <p:nvSpPr>
          <p:cNvPr id="16" name="tile tr"/>
          <p:cNvSpPr/>
          <p:nvPr/>
        </p:nvSpPr>
        <p:spPr>
          <a:xfrm>
            <a:off x="6656831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tr</a:t>
            </a:r>
          </a:p>
        </p:txBody>
      </p:sp>
      <p:sp>
        <p:nvSpPr>
          <p:cNvPr id="17" name="tile j"/>
          <p:cNvSpPr/>
          <p:nvPr/>
        </p:nvSpPr>
        <p:spPr>
          <a:xfrm>
            <a:off x="769010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j</a:t>
            </a:r>
          </a:p>
        </p:txBody>
      </p:sp>
      <p:sp>
        <p:nvSpPr>
          <p:cNvPr id="18" name="tile l"/>
          <p:cNvSpPr/>
          <p:nvPr/>
        </p:nvSpPr>
        <p:spPr>
          <a:xfrm>
            <a:off x="8723376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l</a:t>
            </a:r>
          </a:p>
        </p:txBody>
      </p:sp>
      <p:sp>
        <p:nvSpPr>
          <p:cNvPr id="19" name="tile sn"/>
          <p:cNvSpPr/>
          <p:nvPr/>
        </p:nvSpPr>
        <p:spPr>
          <a:xfrm>
            <a:off x="9756647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sn</a:t>
            </a:r>
          </a:p>
        </p:txBody>
      </p:sp>
      <p:sp>
        <p:nvSpPr>
          <p:cNvPr id="20" name="tile h"/>
          <p:cNvSpPr/>
          <p:nvPr/>
        </p:nvSpPr>
        <p:spPr>
          <a:xfrm>
            <a:off x="1078991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lue panel"/>
          <p:cNvSpPr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solidFill>
            <a:srgbClr val="E9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" descr="1f917-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1027688" cy="914400"/>
          </a:xfrm>
          <a:prstGeom prst="rect">
            <a:avLst/>
          </a:prstGeom>
        </p:spPr>
      </p:pic>
      <p:sp>
        <p:nvSpPr>
          <p:cNvPr id="4" name="English word"/>
          <p:cNvSpPr/>
          <p:nvPr/>
        </p:nvSpPr>
        <p:spPr>
          <a:xfrm>
            <a:off x="2651760" y="45720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1">
                <a:solidFill>
                  <a:srgbClr val="111111"/>
                </a:solidFill>
                <a:latin typeface="Arial"/>
                <a:ea typeface="Microsoft JhengHei"/>
              </a:rPr>
              <a:t>kind</a:t>
            </a:r>
          </a:p>
        </p:txBody>
      </p:sp>
      <p:sp>
        <p:nvSpPr>
          <p:cNvPr id="5" name="Chinese"/>
          <p:cNvSpPr/>
          <p:nvPr/>
        </p:nvSpPr>
        <p:spPr>
          <a:xfrm>
            <a:off x="7589520" y="45720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/>
          <a:lstStyle/>
          <a:p>
            <a:pPr algn="ctr"/>
            <a:r>
              <a:rPr sz="5400" b="0">
                <a:solidFill>
                  <a:srgbClr val="111111"/>
                </a:solidFill>
                <a:latin typeface="Arial"/>
                <a:ea typeface="Microsoft JhengHei"/>
              </a:rPr>
              <a:t>友善</a:t>
            </a:r>
          </a:p>
        </p:txBody>
      </p:sp>
      <p:sp>
        <p:nvSpPr>
          <p:cNvPr id="6" name="box 1"/>
          <p:cNvSpPr/>
          <p:nvPr/>
        </p:nvSpPr>
        <p:spPr>
          <a:xfrm>
            <a:off x="457200" y="219456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x 2"/>
          <p:cNvSpPr/>
          <p:nvPr/>
        </p:nvSpPr>
        <p:spPr>
          <a:xfrm>
            <a:off x="164592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i</a:t>
            </a:r>
          </a:p>
        </p:txBody>
      </p:sp>
      <p:sp>
        <p:nvSpPr>
          <p:cNvPr id="8" name="box 3"/>
          <p:cNvSpPr/>
          <p:nvPr/>
        </p:nvSpPr>
        <p:spPr>
          <a:xfrm>
            <a:off x="283464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9" name="box 4"/>
          <p:cNvSpPr/>
          <p:nvPr/>
        </p:nvSpPr>
        <p:spPr>
          <a:xfrm>
            <a:off x="4023360" y="2194560"/>
            <a:ext cx="1188720" cy="1188720"/>
          </a:xfrm>
          <a:prstGeom prst="rect">
            <a:avLst/>
          </a:prstGeom>
          <a:solidFill>
            <a:srgbClr val="D9D9D9"/>
          </a:solidFill>
          <a:ln w="3810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4000" b="1">
                <a:solidFill>
                  <a:srgbClr val="111111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10" name="tile b"/>
          <p:cNvSpPr/>
          <p:nvPr/>
        </p:nvSpPr>
        <p:spPr>
          <a:xfrm>
            <a:off x="457200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11" name="tile bl"/>
          <p:cNvSpPr/>
          <p:nvPr/>
        </p:nvSpPr>
        <p:spPr>
          <a:xfrm>
            <a:off x="1490472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bl</a:t>
            </a:r>
          </a:p>
        </p:txBody>
      </p:sp>
      <p:sp>
        <p:nvSpPr>
          <p:cNvPr id="12" name="tile f"/>
          <p:cNvSpPr/>
          <p:nvPr/>
        </p:nvSpPr>
        <p:spPr>
          <a:xfrm>
            <a:off x="252374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f</a:t>
            </a:r>
          </a:p>
        </p:txBody>
      </p:sp>
      <p:sp>
        <p:nvSpPr>
          <p:cNvPr id="13" name="tile gr"/>
          <p:cNvSpPr/>
          <p:nvPr/>
        </p:nvSpPr>
        <p:spPr>
          <a:xfrm>
            <a:off x="3557015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gr</a:t>
            </a:r>
          </a:p>
        </p:txBody>
      </p:sp>
      <p:sp>
        <p:nvSpPr>
          <p:cNvPr id="14" name="tile m"/>
          <p:cNvSpPr/>
          <p:nvPr/>
        </p:nvSpPr>
        <p:spPr>
          <a:xfrm>
            <a:off x="4590288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m</a:t>
            </a:r>
          </a:p>
        </p:txBody>
      </p:sp>
      <p:sp>
        <p:nvSpPr>
          <p:cNvPr id="15" name="tile z"/>
          <p:cNvSpPr/>
          <p:nvPr/>
        </p:nvSpPr>
        <p:spPr>
          <a:xfrm>
            <a:off x="562355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z</a:t>
            </a:r>
          </a:p>
        </p:txBody>
      </p:sp>
      <p:sp>
        <p:nvSpPr>
          <p:cNvPr id="16" name="tile sh"/>
          <p:cNvSpPr/>
          <p:nvPr/>
        </p:nvSpPr>
        <p:spPr>
          <a:xfrm>
            <a:off x="6656831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sh</a:t>
            </a:r>
          </a:p>
        </p:txBody>
      </p:sp>
      <p:sp>
        <p:nvSpPr>
          <p:cNvPr id="17" name="tile s"/>
          <p:cNvSpPr/>
          <p:nvPr/>
        </p:nvSpPr>
        <p:spPr>
          <a:xfrm>
            <a:off x="7690104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s</a:t>
            </a:r>
          </a:p>
        </p:txBody>
      </p:sp>
      <p:sp>
        <p:nvSpPr>
          <p:cNvPr id="18" name="tile n"/>
          <p:cNvSpPr/>
          <p:nvPr/>
        </p:nvSpPr>
        <p:spPr>
          <a:xfrm>
            <a:off x="8723376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n</a:t>
            </a:r>
          </a:p>
        </p:txBody>
      </p:sp>
      <p:sp>
        <p:nvSpPr>
          <p:cNvPr id="19" name="tile tr"/>
          <p:cNvSpPr/>
          <p:nvPr/>
        </p:nvSpPr>
        <p:spPr>
          <a:xfrm>
            <a:off x="9756647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tr</a:t>
            </a:r>
          </a:p>
        </p:txBody>
      </p:sp>
      <p:sp>
        <p:nvSpPr>
          <p:cNvPr id="20" name="tile h"/>
          <p:cNvSpPr/>
          <p:nvPr/>
        </p:nvSpPr>
        <p:spPr>
          <a:xfrm>
            <a:off x="10789919" y="3931920"/>
            <a:ext cx="8686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3200" b="1">
                <a:solidFill>
                  <a:srgbClr val="111111"/>
                </a:solidFill>
                <a:latin typeface="Arial"/>
                <a:ea typeface="Microsoft JhengHei"/>
              </a:rPr>
              <a:t>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Sharing words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